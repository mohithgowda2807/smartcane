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7" dt="2026-09-15T14:21:40.711"/>
    <p1510:client id="{B1F183A1-1CED-A516-5AD8-74202249CBCF}" v="306" dt="2026-09-15T15:16:26.380"/>
    <p1510:client id="{B30D36A2-A8D1-E951-3734-858C8F5856D8}" v="27" dt="2026-09-15T13:45:5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8.jpeg"/><Relationship Id="rId10" Type="http://schemas.openxmlformats.org/officeDocument/2006/relationships/image" Target="../media/image9.png"/><Relationship Id="rId11" Type="http://schemas.openxmlformats.org/officeDocument/2006/relationships/image" Target="../media/image10.jpeg"/><Relationship Id="rId12" Type="http://schemas.openxmlformats.org/officeDocument/2006/relationships/image" Target="../media/image11.jpe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06263" y="0"/>
            <a:ext cx="10972800" cy="80682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7361" y="16259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645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A91DF-2B0F-7697-CE87-E4AF99243F9A}"/>
              </a:ext>
            </a:extLst>
          </p:cNvPr>
          <p:cNvSpPr txBox="1"/>
          <p:nvPr/>
        </p:nvSpPr>
        <p:spPr>
          <a:xfrm>
            <a:off x="2070646" y="1139277"/>
            <a:ext cx="4177235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Computer Vision &amp; AI Assistance</a:t>
            </a:r>
            <a:r>
              <a:rPr lang="en-US" sz="1500" dirty="0">
                <a:latin typeface="Calibri"/>
                <a:ea typeface="Calibri"/>
                <a:cs typeface="Calibri"/>
              </a:rPr>
              <a:t> — Identifies objects, people, text, and signs for real-time guidance. </a:t>
            </a:r>
            <a:endParaRPr lang="en-US" sz="1500">
              <a:latin typeface="Calibri"/>
              <a:cs typeface="Calibri" pitchFamily="34" charset="0"/>
            </a:endParaRPr>
          </a:p>
          <a:p>
            <a:r>
              <a:rPr lang="en-US" sz="1500" b="1" dirty="0">
                <a:latin typeface="Calibri"/>
                <a:ea typeface="Calibri"/>
                <a:cs typeface="Calibri"/>
              </a:rPr>
              <a:t>Stair / Step Detection</a:t>
            </a:r>
            <a:r>
              <a:rPr lang="en-US" sz="1500" dirty="0">
                <a:latin typeface="Calibri"/>
                <a:ea typeface="Calibri"/>
                <a:cs typeface="Calibri"/>
              </a:rPr>
              <a:t> — Detects stairs, steps, curbs, and uneven terrain to prevent falls. </a:t>
            </a:r>
            <a:endParaRPr lang="en-US" sz="1500" dirty="0">
              <a:latin typeface="Calibri"/>
              <a:cs typeface="Calibri" pitchFamily="34" charset="0"/>
            </a:endParaRPr>
          </a:p>
        </p:txBody>
      </p:sp>
      <p:pic>
        <p:nvPicPr>
          <p:cNvPr id="12" name="Picture 11" descr="Explainer: What Is Computer Vision? | NVIDIA Technical Blog">
            <a:extLst>
              <a:ext uri="{FF2B5EF4-FFF2-40B4-BE49-F238E27FC236}">
                <a16:creationId xmlns:a16="http://schemas.microsoft.com/office/drawing/2014/main" id="{E60E87C0-47E1-C32A-A894-B6DC18F2C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359" y="1187824"/>
            <a:ext cx="2003686" cy="1139264"/>
          </a:xfrm>
          <a:prstGeom prst="rect">
            <a:avLst/>
          </a:prstGeom>
        </p:spPr>
      </p:pic>
      <p:pic>
        <p:nvPicPr>
          <p:cNvPr id="13" name="Picture 12" descr="Stairs step count approach : r/computervision">
            <a:extLst>
              <a:ext uri="{FF2B5EF4-FFF2-40B4-BE49-F238E27FC236}">
                <a16:creationId xmlns:a16="http://schemas.microsoft.com/office/drawing/2014/main" id="{58380DF6-8402-CA82-7277-85596D2865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96" t="4276" r="4698" b="6341"/>
          <a:stretch>
            <a:fillRect/>
          </a:stretch>
        </p:blipFill>
        <p:spPr>
          <a:xfrm>
            <a:off x="8119783" y="1175787"/>
            <a:ext cx="1432432" cy="11617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5A171C5-B9D2-D8A9-E102-F8A5F4A9E1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625" y="1117600"/>
            <a:ext cx="1185870" cy="5201920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PROPOSED SOLUTION &amp; HIGH-LEVEL SYSTEM FLOW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73152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🔴 REAL USER MOBILITY PAIN POINTS: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"I feel the ground, but hit low tree branches at head level."</a:t>
            </a:r>
            <a:br/>
            <a:r>
              <a:t>• "Silent electric scooters approach without any audio warning."</a:t>
            </a:r>
            <a:br/>
            <a:r>
              <a:t>• "Earbuds in existing smart canes block traffic hearing—a death trap."</a:t>
            </a:r>
            <a:br/>
            <a:r>
              <a:t>• "If phone OS or app crashes, all safety warnings immediately die."</a:t>
            </a:r>
          </a:p>
          <a:p>
            <a:br/>
            <a:pPr>
              <a:defRPr sz="1200" b="1">
                <a:solidFill>
                  <a:srgbClr val="059669"/>
                </a:solidFill>
              </a:defRPr>
            </a:pPr>
            <a:r>
              <a:t>🟢 ECOWIPE-INSPIRED 6-PILLAR BREAKTHROUGH: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Asymmetric Dual-Core: ESP32-S3 (Always-on 50ms reflex) + RPi Zero 2 W.</a:t>
            </a:r>
            <a:br/>
            <a:r>
              <a:t>2. 8-Sensor 360° Perception: Dual cameras, Ultrasonic, ToF, dual PIRs, IMU.</a:t>
            </a:r>
            <a:br/>
            <a:r>
              <a:t>3. Ears-Free Bone Conduction: BLE 5.x keeps ear canals 100% open for traffic.</a:t>
            </a:r>
            <a:br/>
            <a:r>
              <a:t>4. Sub-15ms Palm Haptics: DRV2605L LRA waveform for drop-offs &amp; obstacles.</a:t>
            </a:r>
            <a:br/>
            <a:r>
              <a:t>5. Autonomous Direct-AT SOS: Standalone 112 call + GPS SMS via LTE (No phone).</a:t>
            </a:r>
            <a:br/>
            <a:r>
              <a:t>6. Motorized Quad-Pod Tip: Auto-deploying 1.2s base stabilizes rough inclines.</a:t>
            </a:r>
          </a:p>
        </p:txBody>
      </p:sp>
      <p:pic>
        <p:nvPicPr>
          <p:cNvPr id="15364" name="Picture 15363" descr="winner_style_3lane_flowcha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60720" y="1188720"/>
            <a:ext cx="5760720" cy="746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APPROACH &amp; SENSOR COVERAGE</a:t>
            </a:r>
          </a:p>
        </p:txBody>
      </p:sp>
      <p:pic>
        <p:nvPicPr>
          <p:cNvPr id="17411" name="Picture 17410" descr="3_sensor_coverage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80160"/>
            <a:ext cx="5669280" cy="3164249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58368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🛠️ MULTI-TIER ENGINEERING STACK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⚡ ESP32-S3 Firmware (Safety Core):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Dual Xtensa @ 240MHz executing FreeRTOS 50ms deterministic loop. Direct GPIO/I2C arbitration; bypasses OS entirely.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🧠 Raspberry Pi Zero 2 W (Edge AI):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Quad Cortex-A53 running Linux RT kernel. YOLO-Fastest &amp; MobileNetV3-SSD Int8 quantized at 12–15 fps for scene OCR.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📡 Differential I²C Bus (PCA9615):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Eliminates EMI across the 1.1m shaft, ensuring zero noise for tip-mounted ToF and IMU sensors.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🦴 Wireless Audio Transceiver: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Dedicated BLE 5.x A2DP stream to bone-conduction headphones for zero ear obstruction.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🚨 SIM7600G-H LTE Cat-4 &amp; GNSS: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Direct-AT emergency dialing to 112 + automated SMS with live Google Maps coordinate pinpoint.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🔋 5-Rail Power Distribution: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1S2P 6800 mAh Li-Ion with TI BQ25895 fast charging and TI TPS63020 buck-boost regulator. 36h+ Power-Save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FEASIBILITY, VIABILITY &amp; RISK MITIGATION</a:t>
            </a:r>
          </a:p>
        </p:txBody>
      </p:sp>
      <p:pic>
        <p:nvPicPr>
          <p:cNvPr id="17411" name="Picture 17410" descr="slide4_feasibility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10698480" cy="802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IMPACT, BENEFITS &amp; COMPETITIVE ADVANTAGE</a:t>
            </a:r>
          </a:p>
        </p:txBody>
      </p:sp>
      <p:pic>
        <p:nvPicPr>
          <p:cNvPr id="17411" name="Picture 17410" descr="slide5_impact_and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10698480" cy="641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RESEARCH, STANDARDS &amp; PROOF OF EXECUTION</a:t>
            </a:r>
          </a:p>
        </p:txBody>
      </p:sp>
      <p:pic>
        <p:nvPicPr>
          <p:cNvPr id="17411" name="Picture 17410" descr="slide6_research_and_pr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10698480" cy="588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Tentan M S .</cp:lastModifiedBy>
  <cp:revision>307</cp:revision>
  <dcterms:created xsi:type="dcterms:W3CDTF">2013-12-12T18:46:50Z</dcterms:created>
  <dcterms:modified xsi:type="dcterms:W3CDTF">2026-09-26T13:08:58Z</dcterms:modified>
  <cp:category/>
</cp:coreProperties>
</file>