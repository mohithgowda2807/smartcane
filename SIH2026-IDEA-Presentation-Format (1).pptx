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07" dt="2026-09-15T14:21:40.711"/>
    <p1510:client id="{B1F183A1-1CED-A516-5AD8-74202249CBCF}" v="306" dt="2026-09-15T15:16:26.380"/>
    <p1510:client id="{B30D36A2-A8D1-E951-3734-858C8F5856D8}" v="27" dt="2026-09-15T13:45:52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06263" y="0"/>
            <a:ext cx="10972800" cy="80682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Arial"/>
                <a:ea typeface="ＭＳ Ｐゴシック"/>
                <a:cs typeface="Arial"/>
              </a:rPr>
              <a:t> </a:t>
            </a:r>
            <a:endParaRPr lang="en-US" sz="3200" u="sng" dirty="0">
              <a:solidFill>
                <a:srgbClr val="1F497D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07361" y="16259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645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CA91DF-2B0F-7697-CE87-E4AF99243F9A}"/>
              </a:ext>
            </a:extLst>
          </p:cNvPr>
          <p:cNvSpPr txBox="1"/>
          <p:nvPr/>
        </p:nvSpPr>
        <p:spPr>
          <a:xfrm>
            <a:off x="2070646" y="1139277"/>
            <a:ext cx="4177235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latin typeface="Calibri"/>
                <a:ea typeface="Calibri"/>
                <a:cs typeface="Calibri"/>
              </a:rPr>
              <a:t>Computer Vision &amp; AI Assistance</a:t>
            </a:r>
            <a:r>
              <a:rPr lang="en-US" sz="1500" dirty="0">
                <a:latin typeface="Calibri"/>
                <a:ea typeface="Calibri"/>
                <a:cs typeface="Calibri"/>
              </a:rPr>
              <a:t> — Identifies objects, people, text, and signs for real-time guidance. </a:t>
            </a:r>
            <a:endParaRPr lang="en-US" sz="1500">
              <a:latin typeface="Calibri"/>
              <a:cs typeface="Calibri" pitchFamily="34" charset="0"/>
            </a:endParaRPr>
          </a:p>
          <a:p>
            <a:r>
              <a:rPr lang="en-US" sz="1500" b="1" dirty="0">
                <a:latin typeface="Calibri"/>
                <a:ea typeface="Calibri"/>
                <a:cs typeface="Calibri"/>
              </a:rPr>
              <a:t>Stair / Step Detection</a:t>
            </a:r>
            <a:r>
              <a:rPr lang="en-US" sz="1500" dirty="0">
                <a:latin typeface="Calibri"/>
                <a:ea typeface="Calibri"/>
                <a:cs typeface="Calibri"/>
              </a:rPr>
              <a:t> — Detects stairs, steps, curbs, and uneven terrain to prevent falls. </a:t>
            </a:r>
            <a:endParaRPr lang="en-US" sz="1500" dirty="0">
              <a:latin typeface="Calibri"/>
              <a:cs typeface="Calibri" pitchFamily="34" charset="0"/>
            </a:endParaRPr>
          </a:p>
        </p:txBody>
      </p:sp>
      <p:pic>
        <p:nvPicPr>
          <p:cNvPr id="12" name="Picture 11" descr="Explainer: What Is Computer Vision? | NVIDIA Technical Blog">
            <a:extLst>
              <a:ext uri="{FF2B5EF4-FFF2-40B4-BE49-F238E27FC236}">
                <a16:creationId xmlns:a16="http://schemas.microsoft.com/office/drawing/2014/main" id="{E60E87C0-47E1-C32A-A894-B6DC18F2C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359" y="1187824"/>
            <a:ext cx="2003686" cy="1139264"/>
          </a:xfrm>
          <a:prstGeom prst="rect">
            <a:avLst/>
          </a:prstGeom>
        </p:spPr>
      </p:pic>
      <p:pic>
        <p:nvPicPr>
          <p:cNvPr id="13" name="Picture 12" descr="Stairs step count approach : r/computervision">
            <a:extLst>
              <a:ext uri="{FF2B5EF4-FFF2-40B4-BE49-F238E27FC236}">
                <a16:creationId xmlns:a16="http://schemas.microsoft.com/office/drawing/2014/main" id="{58380DF6-8402-CA82-7277-85596D2865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396" t="4276" r="4698" b="6341"/>
          <a:stretch>
            <a:fillRect/>
          </a:stretch>
        </p:blipFill>
        <p:spPr>
          <a:xfrm>
            <a:off x="8119783" y="1175787"/>
            <a:ext cx="1432432" cy="11617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354FF8-D77B-A625-2A6F-4AAFAB0E545B}"/>
              </a:ext>
            </a:extLst>
          </p:cNvPr>
          <p:cNvSpPr txBox="1"/>
          <p:nvPr/>
        </p:nvSpPr>
        <p:spPr>
          <a:xfrm>
            <a:off x="4914682" y="2419339"/>
            <a:ext cx="485518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latin typeface="Calibri"/>
                <a:ea typeface="Calibri"/>
                <a:cs typeface="Calibri"/>
              </a:rPr>
              <a:t>Obstacle &amp; Fall Detection</a:t>
            </a:r>
            <a:r>
              <a:rPr lang="en-US" sz="1500" dirty="0">
                <a:latin typeface="Calibri"/>
                <a:ea typeface="Calibri"/>
                <a:cs typeface="Calibri"/>
              </a:rPr>
              <a:t> — Detects obstacles and sudden falls, providing instant alerts. </a:t>
            </a:r>
          </a:p>
          <a:p>
            <a:r>
              <a:rPr lang="en-US" sz="1500" b="1" dirty="0">
                <a:latin typeface="Calibri"/>
                <a:ea typeface="Calibri"/>
                <a:cs typeface="Calibri"/>
              </a:rPr>
              <a:t>Health Monitoring (PPG)</a:t>
            </a:r>
            <a:r>
              <a:rPr lang="en-US" sz="1500" dirty="0">
                <a:latin typeface="Calibri"/>
                <a:ea typeface="Calibri"/>
                <a:cs typeface="Calibri"/>
              </a:rPr>
              <a:t> — Continuously monitors heart rate and vital signs for health alerts.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BBA27A-ED6F-2100-F7BD-A9C4DA6665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5999" y="2386852"/>
            <a:ext cx="1187824" cy="1053354"/>
          </a:xfrm>
          <a:prstGeom prst="rect">
            <a:avLst/>
          </a:prstGeom>
        </p:spPr>
      </p:pic>
      <p:pic>
        <p:nvPicPr>
          <p:cNvPr id="17" name="Picture 16" descr="Heart rate patient monitor, Pulse rate patient monitor - All medical device  manufacturers - Page 2">
            <a:extLst>
              <a:ext uri="{FF2B5EF4-FFF2-40B4-BE49-F238E27FC236}">
                <a16:creationId xmlns:a16="http://schemas.microsoft.com/office/drawing/2014/main" id="{EF56E394-B021-D859-C102-F07A5E03F2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9755" y="2333576"/>
            <a:ext cx="1206606" cy="10590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15B4C99-9051-C2D0-D0A4-6176A3954335}"/>
              </a:ext>
            </a:extLst>
          </p:cNvPr>
          <p:cNvSpPr txBox="1"/>
          <p:nvPr/>
        </p:nvSpPr>
        <p:spPr>
          <a:xfrm>
            <a:off x="2052438" y="3435762"/>
            <a:ext cx="3774786" cy="1708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latin typeface="Calibri"/>
                <a:ea typeface="Calibri"/>
                <a:cs typeface="Calibri"/>
              </a:rPr>
              <a:t>GPS &amp; Location Awareness</a:t>
            </a:r>
            <a:r>
              <a:rPr lang="en-US" sz="1500" dirty="0">
                <a:latin typeface="Calibri"/>
                <a:ea typeface="Calibri"/>
                <a:cs typeface="Calibri"/>
              </a:rPr>
              <a:t> — Tracks location, navigation, and geofencing for safer travel. </a:t>
            </a:r>
          </a:p>
          <a:p>
            <a:r>
              <a:rPr lang="en-US" sz="1500" b="1" dirty="0">
                <a:latin typeface="Calibri"/>
                <a:ea typeface="Calibri"/>
                <a:cs typeface="Calibri"/>
              </a:rPr>
              <a:t>Emergency Communication</a:t>
            </a:r>
            <a:r>
              <a:rPr lang="en-US" sz="1500" dirty="0">
                <a:latin typeface="Calibri"/>
                <a:ea typeface="Calibri"/>
                <a:cs typeface="Calibri"/>
              </a:rPr>
              <a:t> — Sends automatic SOS alerts during falls, inactivity, or emergencies. </a:t>
            </a:r>
          </a:p>
          <a:p>
            <a:r>
              <a:rPr lang="en-US" sz="1500" b="1" dirty="0">
                <a:latin typeface="Calibri"/>
                <a:ea typeface="Calibri"/>
                <a:cs typeface="Calibri"/>
              </a:rPr>
              <a:t>Voice Interaction</a:t>
            </a:r>
            <a:r>
              <a:rPr lang="en-US" sz="1500" dirty="0">
                <a:latin typeface="Calibri"/>
                <a:ea typeface="Calibri"/>
                <a:cs typeface="Calibri"/>
              </a:rPr>
              <a:t> —Enables hands-free questions and directions through voice. </a:t>
            </a:r>
          </a:p>
        </p:txBody>
      </p:sp>
      <p:pic>
        <p:nvPicPr>
          <p:cNvPr id="19" name="Picture 18" descr="GPS Navigation &amp; Map Direction - Apps on Google Play">
            <a:extLst>
              <a:ext uri="{FF2B5EF4-FFF2-40B4-BE49-F238E27FC236}">
                <a16:creationId xmlns:a16="http://schemas.microsoft.com/office/drawing/2014/main" id="{899D5FB3-0BE6-0146-5358-10FF267209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9500" y="3560315"/>
            <a:ext cx="1271310" cy="1263464"/>
          </a:xfrm>
          <a:prstGeom prst="rect">
            <a:avLst/>
          </a:prstGeom>
        </p:spPr>
      </p:pic>
      <p:pic>
        <p:nvPicPr>
          <p:cNvPr id="20" name="Picture 19" descr="870+ Sos Signal Stock Photos and Royalty-Free Pictures - iStock">
            <a:extLst>
              <a:ext uri="{FF2B5EF4-FFF2-40B4-BE49-F238E27FC236}">
                <a16:creationId xmlns:a16="http://schemas.microsoft.com/office/drawing/2014/main" id="{3213BB83-6ED4-BE24-F4C7-6E42F777C9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4169" y="3574957"/>
            <a:ext cx="1307391" cy="1244338"/>
          </a:xfrm>
          <a:prstGeom prst="rect">
            <a:avLst/>
          </a:prstGeom>
        </p:spPr>
      </p:pic>
      <p:pic>
        <p:nvPicPr>
          <p:cNvPr id="21" name="Picture 20" descr="AI Voice Calling Agent Platform | 10+ Smart AI Calling Solutions">
            <a:extLst>
              <a:ext uri="{FF2B5EF4-FFF2-40B4-BE49-F238E27FC236}">
                <a16:creationId xmlns:a16="http://schemas.microsoft.com/office/drawing/2014/main" id="{A1AD4F40-FFB0-5624-EBAA-75ADD5E2EE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8724" y="3570193"/>
            <a:ext cx="1296895" cy="12437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09AD68E-A19A-974A-6C02-4E6AC658C576}"/>
              </a:ext>
            </a:extLst>
          </p:cNvPr>
          <p:cNvSpPr txBox="1"/>
          <p:nvPr/>
        </p:nvSpPr>
        <p:spPr>
          <a:xfrm>
            <a:off x="5334348" y="4928321"/>
            <a:ext cx="436828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latin typeface="Calibri"/>
                <a:ea typeface="Calibri"/>
                <a:cs typeface="Calibri"/>
              </a:rPr>
              <a:t>Short-Range Wireless Communication</a:t>
            </a:r>
            <a:r>
              <a:rPr lang="en-US" sz="1500" dirty="0">
                <a:latin typeface="Calibri"/>
                <a:ea typeface="Calibri"/>
                <a:cs typeface="Calibri"/>
              </a:rPr>
              <a:t> —Connects the cane with phones and nearby devices for real-time data sharing. </a:t>
            </a:r>
          </a:p>
          <a:p>
            <a:r>
              <a:rPr lang="en-US" sz="1500" b="1" dirty="0">
                <a:latin typeface="Calibri"/>
                <a:ea typeface="Calibri"/>
                <a:cs typeface="Calibri"/>
              </a:rPr>
              <a:t>Adaptive Terrain Support</a:t>
            </a:r>
            <a:r>
              <a:rPr lang="en-US" sz="1500" dirty="0">
                <a:latin typeface="Calibri"/>
                <a:ea typeface="Calibri"/>
                <a:cs typeface="Calibri"/>
              </a:rPr>
              <a:t> — Automatically adapts to different surfaces for better stability and safer movement.</a:t>
            </a:r>
          </a:p>
          <a:p>
            <a:pPr algn="l"/>
            <a:endParaRPr lang="en-US" dirty="0">
              <a:cs typeface="Calibri"/>
            </a:endParaRPr>
          </a:p>
        </p:txBody>
      </p:sp>
      <p:pic>
        <p:nvPicPr>
          <p:cNvPr id="23" name="Picture 22" descr="Fundamentals and Evolution of Bluetooth Technology">
            <a:extLst>
              <a:ext uri="{FF2B5EF4-FFF2-40B4-BE49-F238E27FC236}">
                <a16:creationId xmlns:a16="http://schemas.microsoft.com/office/drawing/2014/main" id="{7C137730-C9CE-7DAF-7BCE-53478EFE53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13429" y="5143543"/>
            <a:ext cx="1532964" cy="11317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3F6EF6F-74F4-E1EB-11F8-8EE2581017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0742" y="5127532"/>
            <a:ext cx="1697691" cy="11637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ACBF57-039C-36AB-D301-7CCB85F5BFA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88860" y="1330960"/>
            <a:ext cx="2506921" cy="4775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FA3CB8-1BB8-E768-1C28-2D2DFBE6F081}"/>
              </a:ext>
            </a:extLst>
          </p:cNvPr>
          <p:cNvSpPr txBox="1"/>
          <p:nvPr/>
        </p:nvSpPr>
        <p:spPr>
          <a:xfrm>
            <a:off x="9996653" y="2744179"/>
            <a:ext cx="81787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Camera</a:t>
            </a:r>
            <a:endParaRPr lang="en-US" sz="1400">
              <a:solidFill>
                <a:schemeClr val="bg1"/>
              </a:solidFill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2E3B2B-63BA-8DBE-15E7-55D256933554}"/>
              </a:ext>
            </a:extLst>
          </p:cNvPr>
          <p:cNvSpPr txBox="1"/>
          <p:nvPr/>
        </p:nvSpPr>
        <p:spPr>
          <a:xfrm>
            <a:off x="9999131" y="3204847"/>
            <a:ext cx="7700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Adaptive Grip</a:t>
            </a:r>
            <a:endParaRPr lang="en-US" sz="1200">
              <a:solidFill>
                <a:schemeClr val="bg1"/>
              </a:solidFill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CB2771-A95A-267B-6D89-FCBB9785FF6F}"/>
              </a:ext>
            </a:extLst>
          </p:cNvPr>
          <p:cNvSpPr txBox="1"/>
          <p:nvPr/>
        </p:nvSpPr>
        <p:spPr>
          <a:xfrm>
            <a:off x="9898646" y="4018262"/>
            <a:ext cx="72804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Control Buttons</a:t>
            </a:r>
            <a:endParaRPr lang="en-US" sz="1100">
              <a:solidFill>
                <a:schemeClr val="bg1"/>
              </a:solidFill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0EFD8E-4D14-2034-647D-5A17FA43610C}"/>
              </a:ext>
            </a:extLst>
          </p:cNvPr>
          <p:cNvSpPr txBox="1"/>
          <p:nvPr/>
        </p:nvSpPr>
        <p:spPr>
          <a:xfrm>
            <a:off x="9982652" y="5503475"/>
            <a:ext cx="9630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Smart Tip</a:t>
            </a:r>
            <a:endParaRPr lang="en-US" sz="1400">
              <a:solidFill>
                <a:schemeClr val="bg1"/>
              </a:solidFill>
              <a:cs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5A171C5-B9D2-D8A9-E102-F8A5F4A9E1E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625" y="1117600"/>
            <a:ext cx="1185870" cy="52019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C9DAC5B-5156-28CA-080D-65BD00B9FF9D}"/>
              </a:ext>
            </a:extLst>
          </p:cNvPr>
          <p:cNvSpPr txBox="1"/>
          <p:nvPr/>
        </p:nvSpPr>
        <p:spPr>
          <a:xfrm>
            <a:off x="-3841" y="1195281"/>
            <a:ext cx="1278544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  <a:latin typeface="Calibri"/>
                <a:ea typeface="ＭＳ Ｐゴシック"/>
                <a:cs typeface="Calibri"/>
              </a:rPr>
              <a:t>Camera,</a:t>
            </a:r>
            <a:br>
              <a:rPr lang="en-US" sz="1400" b="1" dirty="0">
                <a:latin typeface="Calibri"/>
                <a:ea typeface="ＭＳ Ｐゴシック"/>
                <a:cs typeface="Calibri"/>
              </a:rPr>
            </a:br>
            <a:r>
              <a:rPr lang="en-US" sz="1400" b="1" dirty="0">
                <a:solidFill>
                  <a:schemeClr val="tx2"/>
                </a:solidFill>
                <a:latin typeface="Calibri"/>
                <a:ea typeface="ＭＳ Ｐゴシック"/>
                <a:cs typeface="Calibri"/>
              </a:rPr>
              <a:t>Adjustable</a:t>
            </a:r>
            <a:br>
              <a:rPr lang="en-US" sz="1400" b="1" dirty="0">
                <a:cs typeface="Calibri"/>
              </a:rPr>
            </a:br>
            <a:r>
              <a:rPr lang="en-US" sz="1400" b="1" dirty="0">
                <a:solidFill>
                  <a:schemeClr val="tx2"/>
                </a:solidFill>
                <a:latin typeface="Calibri"/>
                <a:ea typeface="ＭＳ Ｐゴシック"/>
                <a:cs typeface="Calibri"/>
              </a:rPr>
              <a:t>Grip</a:t>
            </a:r>
            <a:br>
              <a:rPr lang="en-US" sz="1400" b="1" dirty="0">
                <a:latin typeface="Calibri"/>
                <a:ea typeface="ＭＳ Ｐゴシック"/>
                <a:cs typeface="Calibri"/>
              </a:rPr>
            </a:br>
            <a:br>
              <a:rPr lang="en-US" sz="1400" b="1" dirty="0">
                <a:cs typeface="Calibri"/>
              </a:rPr>
            </a:br>
            <a:r>
              <a:rPr lang="en-US" sz="1400" b="1" dirty="0">
                <a:solidFill>
                  <a:schemeClr val="tx2"/>
                </a:solidFill>
                <a:latin typeface="Calibri"/>
                <a:ea typeface="ＭＳ Ｐゴシック"/>
                <a:cs typeface="Calibri"/>
              </a:rPr>
              <a:t>Control Buttons</a:t>
            </a:r>
            <a:br>
              <a:rPr lang="en-US" sz="1400" b="1" dirty="0">
                <a:latin typeface="Calibri"/>
                <a:ea typeface="ＭＳ Ｐゴシック"/>
                <a:cs typeface="Calibri"/>
              </a:rPr>
            </a:br>
            <a:br>
              <a:rPr lang="en-US" sz="1400" b="1" dirty="0">
                <a:cs typeface="Calibri"/>
              </a:rPr>
            </a:br>
            <a:br>
              <a:rPr lang="en-US" sz="1400" b="1" dirty="0">
                <a:cs typeface="Calibri"/>
              </a:rPr>
            </a:br>
            <a:br>
              <a:rPr lang="en-US" sz="1400" b="1" dirty="0">
                <a:cs typeface="Calibri"/>
              </a:rPr>
            </a:br>
            <a:endParaRPr lang="en-US" sz="1400" b="1">
              <a:solidFill>
                <a:schemeClr val="tx2"/>
              </a:solidFill>
              <a:cs typeface="Calibri"/>
            </a:endParaRPr>
          </a:p>
          <a:p>
            <a:br>
              <a:rPr lang="en-US" sz="1400" b="1" dirty="0">
                <a:cs typeface="Calibri"/>
              </a:rPr>
            </a:br>
            <a:br>
              <a:rPr lang="en-US" sz="1400" b="1" dirty="0">
                <a:cs typeface="Calibri"/>
              </a:rPr>
            </a:br>
            <a:r>
              <a:rPr lang="en-US" sz="1400" b="1" dirty="0">
                <a:solidFill>
                  <a:schemeClr val="tx2"/>
                </a:solidFill>
                <a:latin typeface="Calibri"/>
                <a:ea typeface="ＭＳ Ｐゴシック"/>
                <a:cs typeface="Calibri"/>
              </a:rPr>
              <a:t>Long Adjustable Stick</a:t>
            </a:r>
            <a:br>
              <a:rPr lang="en-US" sz="1400" b="1" dirty="0">
                <a:latin typeface="Calibri"/>
                <a:ea typeface="ＭＳ Ｐゴシック"/>
                <a:cs typeface="Calibri"/>
              </a:rPr>
            </a:br>
            <a:br>
              <a:rPr lang="en-US" sz="1400" b="1" dirty="0">
                <a:cs typeface="Calibri"/>
              </a:rPr>
            </a:br>
            <a:br>
              <a:rPr lang="en-US" sz="1400" b="1" dirty="0">
                <a:cs typeface="Calibri"/>
              </a:rPr>
            </a:br>
            <a:br>
              <a:rPr lang="en-US" sz="1400" b="1" dirty="0">
                <a:cs typeface="Calibri"/>
              </a:rPr>
            </a:br>
            <a:br>
              <a:rPr lang="en-US" sz="1400" b="1" dirty="0">
                <a:cs typeface="Calibri"/>
              </a:rPr>
            </a:br>
            <a:br>
              <a:rPr lang="en-US" sz="1400" b="1" dirty="0">
                <a:cs typeface="Calibri"/>
              </a:rPr>
            </a:br>
            <a:r>
              <a:rPr lang="en-US" sz="1400" b="1" dirty="0">
                <a:solidFill>
                  <a:schemeClr val="tx2"/>
                </a:solidFill>
                <a:latin typeface="Calibri"/>
                <a:ea typeface="ＭＳ Ｐゴシック"/>
                <a:cs typeface="Calibri"/>
              </a:rPr>
              <a:t>Camera,</a:t>
            </a:r>
            <a:br>
              <a:rPr lang="en-US" sz="1400" b="1" dirty="0">
                <a:cs typeface="Calibri"/>
              </a:rPr>
            </a:br>
            <a:r>
              <a:rPr lang="en-US" sz="1400" b="1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Accelerometer</a:t>
            </a:r>
            <a:br>
              <a:rPr lang="en-US" sz="1400" b="1" dirty="0">
                <a:latin typeface="Calibri"/>
                <a:ea typeface="ＭＳ Ｐゴシック"/>
                <a:cs typeface="Calibri"/>
              </a:rPr>
            </a:br>
            <a:r>
              <a:rPr lang="en-US" sz="1400" b="1" dirty="0">
                <a:solidFill>
                  <a:schemeClr val="tx2"/>
                </a:solidFill>
                <a:latin typeface="Calibri"/>
                <a:ea typeface="ＭＳ Ｐゴシック"/>
                <a:cs typeface="Calibri"/>
              </a:rPr>
              <a:t>Ultrasonic Sensor</a:t>
            </a:r>
            <a:endParaRPr lang="en-US" sz="1400" b="1">
              <a:solidFill>
                <a:schemeClr val="tx2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Tentan M S .</cp:lastModifiedBy>
  <cp:revision>307</cp:revision>
  <dcterms:created xsi:type="dcterms:W3CDTF">2013-12-12T18:46:50Z</dcterms:created>
  <dcterms:modified xsi:type="dcterms:W3CDTF">2026-09-26T13:08:58Z</dcterms:modified>
  <cp:category/>
</cp:coreProperties>
</file>