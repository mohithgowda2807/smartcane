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114800" cy="274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38BDF8"/>
                </a:solidFill>
              </a:defRPr>
            </a:pPr>
            <a:r>
              <a:t>SMART INDIA HACKATHON 2026 •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t>SMART INTELLIGENT CANE — EXECUTIVE SYSTEM ARCHITECTURE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Interactive Architecture: Click any of the 4 core architecture blocks below to drill down into its detailed Tree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98448"/>
            <a:ext cx="10728655" cy="320040"/>
          </a:xfrm>
          <a:prstGeom prst="roundRect">
            <a:avLst/>
          </a:prstGeom>
          <a:solidFill>
            <a:srgbClr val="0F172A"/>
          </a:solidFill>
          <a:ln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CBD5E1"/>
                </a:solidFill>
              </a:defRPr>
            </a:pPr>
            <a:r>
              <a:t>⚡ 50ms Deterministic Safety Loop  |  📷 Dual AI Cameras (Top + Ground)  |  🌡️ Dual Spatial PIRs  |  🎧 Bluetooth Ear Assistant  |  🔋 36h Battery Runtime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731520" y="1783080"/>
            <a:ext cx="2542032" cy="41605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64592" rIns="164592"/>
          <a:lstStyle/>
          <a:p>
            <a:pPr algn="ctr">
              <a:defRPr sz="800" b="1">
                <a:solidFill>
                  <a:srgbClr val="38BDF8"/>
                </a:solidFill>
              </a:defRPr>
            </a:pPr>
            <a:r>
              <a:t>BLOCK 1  •  8 SENSORS • DUAL-TIER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Multi-Modal Perception</a:t>
            </a:r>
            <a:br/>
            <a:r>
              <a:t>&amp; Sensing Layer</a:t>
            </a:r>
          </a:p>
          <a:p>
            <a:pPr>
              <a:spcAft>
                <a:spcPts val="600"/>
              </a:spcAft>
              <a:defRPr sz="800">
                <a:solidFill>
                  <a:srgbClr val="94A3B8"/>
                </a:solidFill>
              </a:defRPr>
            </a:pPr>
            <a:r>
              <a:t>Full-body 360° environmental awareness from head height to pavement level: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</a:defRPr>
            </a:pPr>
            <a:r>
              <a:t>• Top Forward Camera (OV5647 CSI-2)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</a:defRPr>
            </a:pPr>
            <a:r>
              <a:t>• Bottom Ground Camera (120° USB UVC)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</a:defRPr>
            </a:pPr>
            <a:r>
              <a:t>• Ultrasonic Sensor (40kHz JSN-SR04T)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</a:defRPr>
            </a:pPr>
            <a:r>
              <a:t>• Laser ToF Step Sensor (VL53L1X)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</a:defRPr>
            </a:pPr>
            <a:r>
              <a:t>• Dual Spatial PIRs (Torso + Blind Spot)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</a:defRPr>
            </a:pPr>
            <a:r>
              <a:t>• BMI270 6-DOF IMU + Water Contact Pins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868680" y="5349240"/>
            <a:ext cx="2267712" cy="411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38BDF8"/>
                </a:solidFill>
              </a:defRPr>
            </a:pPr>
            <a:r>
              <a:t>CLICK TO EXPAND TREE ➔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3456432" y="1783080"/>
            <a:ext cx="2542032" cy="41605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64592" rIns="164592"/>
          <a:lstStyle/>
          <a:p>
            <a:pPr algn="ctr">
              <a:defRPr sz="800" b="1">
                <a:solidFill>
                  <a:srgbClr val="F87171"/>
                </a:solidFill>
              </a:defRPr>
            </a:pPr>
            <a:r>
              <a:t>BLOCK 2  •  RTOS + LINUX EDGE AI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Dual-Processor Brain</a:t>
            </a:r>
            <a:br/>
            <a:r>
              <a:t>&amp; Safety Core</a:t>
            </a:r>
          </a:p>
          <a:p>
            <a:pPr>
              <a:spcAft>
                <a:spcPts val="600"/>
              </a:spcAft>
              <a:defRPr sz="800">
                <a:solidFill>
                  <a:srgbClr val="94A3B8"/>
                </a:solidFill>
              </a:defRPr>
            </a:pPr>
            <a:r>
              <a:t>Asymmetric computing separating hard safety reflex from computer vision: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</a:defRPr>
            </a:pPr>
            <a:r>
              <a:t>• ESP32-S3 Safety Core (Always-On)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</a:defRPr>
            </a:pPr>
            <a:r>
              <a:t>• 50ms Deterministic FreeRTOS Loop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</a:defRPr>
            </a:pPr>
            <a:r>
              <a:t>• Zero-Lag Hazard Priority Arbitration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</a:defRPr>
            </a:pPr>
            <a:r>
              <a:t>• Raspberry Pi Zero 2 W (Switchable)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</a:defRPr>
            </a:pPr>
            <a:r>
              <a:t>• YOLO-Fastest &amp; MobileNet Vision AI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</a:defRPr>
            </a:pPr>
            <a:r>
              <a:t>• Whisper.tflite Voice AI + 921k UART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3593592" y="5349240"/>
            <a:ext cx="2267712" cy="411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87171"/>
                </a:solidFill>
              </a:defRPr>
            </a:pPr>
            <a:r>
              <a:t>CLICK TO EXPAND TREE ➔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6181344" y="1783080"/>
            <a:ext cx="2542032" cy="41605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64592" rIns="164592"/>
          <a:lstStyle/>
          <a:p>
            <a:pPr algn="ctr">
              <a:defRPr sz="800" b="1">
                <a:solidFill>
                  <a:srgbClr val="34D399"/>
                </a:solidFill>
              </a:defRPr>
            </a:pPr>
            <a:r>
              <a:t>BLOCK 3  •  EARS-FREE AUDIO + HAPTICS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Assistive Output, HMI</a:t>
            </a:r>
            <a:br/>
            <a:r>
              <a:t>&amp; Actuation Layer</a:t>
            </a:r>
          </a:p>
          <a:p>
            <a:pPr>
              <a:spcAft>
                <a:spcPts val="600"/>
              </a:spcAft>
              <a:defRPr sz="800">
                <a:solidFill>
                  <a:srgbClr val="94A3B8"/>
                </a:solidFill>
              </a:defRPr>
            </a:pPr>
            <a:r>
              <a:t>Multi-channel sensory feedback leaving ears open for environmental hearing: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</a:defRPr>
            </a:pPr>
            <a:r>
              <a:t>• Bluetooth 5.x Bone-Conduction Ear Link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</a:defRPr>
            </a:pPr>
            <a:r>
              <a:t>• Top Apex Voice Mic (Mouth Aligned)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</a:defRPr>
            </a:pPr>
            <a:r>
              <a:t>• DRV2605L Haptic Palm Reflex (&lt;15ms)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</a:defRPr>
            </a:pPr>
            <a:r>
              <a:t>• 4x Tactile Braille Buttons (V, E, I, P)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</a:defRPr>
            </a:pPr>
            <a:r>
              <a:t>• Guarded Recessed Emergency SOS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</a:defRPr>
            </a:pPr>
            <a:r>
              <a:t>• Quad-Pod Motorized Adaptive Tip</a:t>
            </a:r>
          </a:p>
        </p:txBody>
      </p:sp>
      <p:sp>
        <p:nvSpPr>
          <p:cNvPr id="11" name="Rounded Rectangle 10">
            <a:hlinkClick action="ppaction://hlinksldjump" r:id="rId4"/>
          </p:cNvPr>
          <p:cNvSpPr/>
          <p:nvPr/>
        </p:nvSpPr>
        <p:spPr>
          <a:xfrm>
            <a:off x="6318504" y="5349240"/>
            <a:ext cx="2267712" cy="411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34D399"/>
                </a:solidFill>
              </a:defRPr>
            </a:pPr>
            <a:r>
              <a:t>CLICK TO EXPAND TREE ➔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8906256" y="1783080"/>
            <a:ext cx="2542032" cy="41605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64592" rIns="164592"/>
          <a:lstStyle/>
          <a:p>
            <a:pPr algn="ctr">
              <a:defRPr sz="800" b="1">
                <a:solidFill>
                  <a:srgbClr val="22D3EE"/>
                </a:solidFill>
              </a:defRPr>
            </a:pPr>
            <a:r>
              <a:t>BLOCK 4  •  5 RAILS • STANDALONE SOS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Power Distribution,</a:t>
            </a:r>
            <a:br/>
            <a:r>
              <a:t>Cellular &amp; Cloud</a:t>
            </a:r>
          </a:p>
          <a:p>
            <a:pPr>
              <a:spcAft>
                <a:spcPts val="600"/>
              </a:spcAft>
              <a:defRPr sz="800">
                <a:solidFill>
                  <a:srgbClr val="94A3B8"/>
                </a:solidFill>
              </a:defRPr>
            </a:pPr>
            <a:r>
              <a:t>Fail-safe energy management and direct cellular emergency dispatch: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</a:defRPr>
            </a:pPr>
            <a:r>
              <a:t>• 1S2P 6800 mAh Li-Ion Battery Pack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</a:defRPr>
            </a:pPr>
            <a:r>
              <a:t>• 5 Isolated Switched Regulated Rails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</a:defRPr>
            </a:pPr>
            <a:r>
              <a:t>• 36+ Hours Runtime in Power-Save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</a:defRPr>
            </a:pPr>
            <a:r>
              <a:t>• SIM7600G-H LTE Cat-4 &amp; GNSS Module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</a:defRPr>
            </a:pPr>
            <a:r>
              <a:t>• Autonomous Direct-AT SOS (No Pi needed)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</a:defRPr>
            </a:pPr>
            <a:r>
              <a:t>• Caregiver IoT Telemetry &amp; Geo-Fencing</a:t>
            </a:r>
          </a:p>
        </p:txBody>
      </p:sp>
      <p:sp>
        <p:nvSpPr>
          <p:cNvPr id="13" name="Rounded Rectangle 12">
            <a:hlinkClick action="ppaction://hlinksldjump" r:id="rId5"/>
          </p:cNvPr>
          <p:cNvSpPr/>
          <p:nvPr/>
        </p:nvSpPr>
        <p:spPr>
          <a:xfrm>
            <a:off x="9043416" y="5349240"/>
            <a:ext cx="2267712" cy="411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2D3EE"/>
                </a:solidFill>
              </a:defRPr>
            </a:pPr>
            <a:r>
              <a:t>CLICK TO EXPAND TREE 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i="1">
                <a:solidFill>
                  <a:srgbClr val="94A3B8"/>
                </a:solidFill>
              </a:defRPr>
            </a:pPr>
            <a:r>
              <a:t>Tip: In PowerPoint Slide Show Mode (F5), clicking any block acts as an interactive button that opens that subsystem's full tree architecture.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114800" cy="274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38BDF8"/>
                </a:solidFill>
              </a:defRPr>
            </a:pPr>
            <a:r>
              <a:t>SMART INDIA HACKATHON 2026 •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t>MULTI-MODAL PERCEPTION &amp; SENSING SUBSYSTEM TREE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Detailed Tree: 8 Multi-Modal Sensors with Buses, Voltages, Rates, and Fail-Safe Paths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8961120" y="384048"/>
            <a:ext cx="2468880" cy="411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⬅ BACK TO 4-BLOCK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43630" y="1234440"/>
            <a:ext cx="5303520" cy="621792"/>
          </a:xfrm>
          <a:prstGeom prst="roundRect">
            <a:avLst/>
          </a:prstGeom>
          <a:solidFill>
            <a:srgbClr val="161E31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ROOT ARCHITECTURAL BLOCK: MULTI-MODAL PERCEPTION &amp; SENSING</a:t>
            </a:r>
          </a:p>
          <a:p>
            <a:pPr algn="ctr">
              <a:defRPr sz="780">
                <a:solidFill>
                  <a:srgbClr val="94A3B8"/>
                </a:solidFill>
              </a:defRPr>
            </a:pPr>
            <a:r>
              <a:t>Hierarchical Tree: Subsystems ➔ Dedicated Hardware Modules ➔ Software Drivers &amp; Protocols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2690" y="1856232"/>
            <a:ext cx="25400" cy="2011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08479" y="2044700"/>
            <a:ext cx="8174736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95779" y="2057400"/>
            <a:ext cx="25400" cy="274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7463" y="2331720"/>
            <a:ext cx="2542032" cy="530352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1. Optical Vision Suite</a:t>
            </a:r>
          </a:p>
          <a:p>
            <a:pPr algn="ctr">
              <a:defRPr sz="720">
                <a:solidFill>
                  <a:srgbClr val="94A3B8"/>
                </a:solidFill>
              </a:defRPr>
            </a:pPr>
            <a:r>
              <a:t>Dual-Camera Semantic Vision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02129" y="2862072"/>
            <a:ext cx="12700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7463" y="2953512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Top Forward Camera (CAM1)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OmniVision OV5647 (5MP) • Bus: 22-pin CSI-2 to RPi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5V_PI (250mA) • Rate: 30 fps @ 1080p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Scene comprehension, sign text OCR, crosswalks &amp; pedestrian detection.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02129" y="3959352"/>
            <a:ext cx="12700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7463" y="4069080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Bottom Pavement Camera (CAM2)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Wide 120° Mini CMOS • Bus: USB UVC / CSI Mux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5V_PI (190mA) • Rate: 30 fps ground flow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Angled 35° down: Real-time curb, stair, pothole &amp; drop-off segmentation.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02129" y="5074920"/>
            <a:ext cx="12700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7463" y="5184648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Optical Vision AI Pipeline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YOLO-Fastest + MobileNet • Bus: V4L2 Pipeline (Linux)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Included in Pi • Rate: 15 fps quantized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Fused visual inference delivering obstacle tokens to audio guidance engine.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20691" y="2057400"/>
            <a:ext cx="25400" cy="2743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62375" y="2331720"/>
            <a:ext cx="2542032" cy="530352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87171"/>
                </a:solidFill>
              </a:defRPr>
            </a:pPr>
            <a:r>
              <a:t>2. Acoustic &amp; Laser Ranging</a:t>
            </a:r>
          </a:p>
          <a:p>
            <a:pPr algn="ctr">
              <a:defRPr sz="720">
                <a:solidFill>
                  <a:srgbClr val="94A3B8"/>
                </a:solidFill>
              </a:defRPr>
            </a:pPr>
            <a:r>
              <a:t>Zero-Lag Reflex Safety Path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27041" y="2862072"/>
            <a:ext cx="12700" cy="9144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62375" y="2953512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Ultrasonic Sensor (SEN1)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Waterproof JSN-SR04T (40kHz) • Bus: GPIO Trigger/Echo (ESP32)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5V_AUX (15mA) • Rate: 20 Hz (50ms cycle)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Acoustic distance ranging (20-450cm); triggers palm haptics directly.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27041" y="3959352"/>
            <a:ext cx="12700" cy="10972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462375" y="4069080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Laser ToF Step Sensor (SEN2)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ST VL53L1X (940nm VCSEL) • Bus: Diff I2C (PCA9615 buffer)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3V3_MAIN (16mA) • Rate: 50 Hz (20ms)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Millimeter pavement distance profiling; detects curbs &amp; &gt;8cm drop-offs.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27041" y="5074920"/>
            <a:ext cx="12700" cy="10972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462375" y="5184648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Liquid Water Contact Pins (SEN5)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Gold Electrode Contact Pins • Bus: Analog ADC (ESP32-S3)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3V3_MAIN (&lt;10µA) • Rate: Polled every 50ms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Conductivity drop alerts user to standing water puddles before stepping.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45603" y="2057400"/>
            <a:ext cx="25400" cy="274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87287" y="2331720"/>
            <a:ext cx="2542032" cy="530352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BBF24"/>
                </a:solidFill>
              </a:defRPr>
            </a:pPr>
            <a:r>
              <a:t>3. Spatial Thermal Motion</a:t>
            </a:r>
          </a:p>
          <a:p>
            <a:pPr algn="ctr">
              <a:defRPr sz="720">
                <a:solidFill>
                  <a:srgbClr val="94A3B8"/>
                </a:solidFill>
              </a:defRPr>
            </a:pPr>
            <a:r>
              <a:t>Pedestrian &amp; Blind-Spot Guard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51953" y="2862072"/>
            <a:ext cx="1270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87287" y="2953512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Upper Spatial PIR (SEN3)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Panasonic PaPIRs (120° FOV) • Bus: Hardware INT (ESP32-S3)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3V3_MAIN (&lt;50µA) • Rate: Asynchronous IRQ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Mounted at torso height; detects approaching pedestrians &amp; cyclists 4m away.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51953" y="3959352"/>
            <a:ext cx="12700" cy="109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87287" y="4069080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Lower Peripheral PIR (SEN4)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Dual-Element Miniature PIR • Bus: TCA9555 Expander INT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3V3_MAIN (&lt;50µA) • Rate: Asynchronous IRQ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Low-angle blind spot detection for moving pets, children, and scooters.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51953" y="5074920"/>
            <a:ext cx="12700" cy="109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87287" y="5184648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PIR Thermal Filter Engine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ESP32 Firmware Interrupt ISR • Bus: FreeRTOS Event Group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N/A (Firmware) • Rate: &lt;1ms wake latency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Differentiates moving human heat signatures from ambient temperature drift.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170515" y="2057400"/>
            <a:ext cx="25400" cy="2743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912199" y="2331720"/>
            <a:ext cx="2542032" cy="530352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A855F7"/>
                </a:solidFill>
              </a:defRPr>
            </a:pPr>
            <a:r>
              <a:t>4. Inertial &amp; Vitals Tracking</a:t>
            </a:r>
          </a:p>
          <a:p>
            <a:pPr algn="ctr">
              <a:defRPr sz="720">
                <a:solidFill>
                  <a:srgbClr val="94A3B8"/>
                </a:solidFill>
              </a:defRPr>
            </a:pPr>
            <a:r>
              <a:t>Fall Detection &amp; User Health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76865" y="2862072"/>
            <a:ext cx="12700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912199" y="2953512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6-DOF IMU Sensor (U4)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Bosch BMI270 (Ultra-low noise) • Bus: Diff I2C (Addr 0x68)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3V3_MAIN (680µA) • Rate: 100 Hz continuous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Freefall detection, impact spike trigger, gait cadence &amp; terrain vibration FFT.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76865" y="3959352"/>
            <a:ext cx="12700" cy="10972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912199" y="4069080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MAX30102 PPG Optical Vitals (U5)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Maxim MAX30102 Heart/SpO2 • Bus: Handle I2C (Addr 0x57)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3V3_MAIN (600µA) • Rate: 25 Hz PPG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Monitors palm pulse and blood oxygen; validates consciousness post-fall.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76865" y="5074920"/>
            <a:ext cx="12700" cy="10972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912199" y="5184648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Cadence &amp; Freefall Algorithm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Firmware Core 0 Classifier • Bus: FreeRTOS Safety Loop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N/A (Firmware) • Rate: 10ms evaluation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Dual-threshold fall detection: freefall + high-G impact + 5s immobility.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114800" cy="274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38BDF8"/>
                </a:solidFill>
              </a:defRPr>
            </a:pPr>
            <a:r>
              <a:t>SMART INDIA HACKATHON 2026 •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t>DUAL-PROCESSOR BRAIN &amp; REAL-TIME SAFETY TREE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Detailed Tree: ESP32-S3 Hard RTOS &amp; Raspberry Pi Zero 2 W Edge AI Architecture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8961120" y="384048"/>
            <a:ext cx="2468880" cy="411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⬅ BACK TO 4-BLOCK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43630" y="1234440"/>
            <a:ext cx="5303520" cy="621792"/>
          </a:xfrm>
          <a:prstGeom prst="roundRect">
            <a:avLst/>
          </a:prstGeom>
          <a:solidFill>
            <a:srgbClr val="161E31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87171"/>
                </a:solidFill>
              </a:defRPr>
            </a:pPr>
            <a:r>
              <a:t>ROOT ARCHITECTURAL BLOCK: DUAL-PROCESSOR BRAIN &amp; COMPUTE</a:t>
            </a:r>
          </a:p>
          <a:p>
            <a:pPr algn="ctr">
              <a:defRPr sz="780">
                <a:solidFill>
                  <a:srgbClr val="94A3B8"/>
                </a:solidFill>
              </a:defRPr>
            </a:pPr>
            <a:r>
              <a:t>Hierarchical Tree: Subsystems ➔ Dedicated Hardware Modules ➔ Software Drivers &amp; Protocols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2690" y="1856232"/>
            <a:ext cx="25400" cy="20116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08479" y="2044700"/>
            <a:ext cx="8174736" cy="25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95779" y="2057400"/>
            <a:ext cx="25400" cy="2743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7463" y="2331720"/>
            <a:ext cx="2542032" cy="530352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87171"/>
                </a:solidFill>
              </a:defRPr>
            </a:pPr>
            <a:r>
              <a:t>1. ESP32-S3 Safety Core (HW)</a:t>
            </a:r>
          </a:p>
          <a:p>
            <a:pPr algn="ctr">
              <a:defRPr sz="720">
                <a:solidFill>
                  <a:srgbClr val="94A3B8"/>
                </a:solidFill>
              </a:defRPr>
            </a:pPr>
            <a:r>
              <a:t>Always-On Hard Safety Master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02129" y="2862072"/>
            <a:ext cx="12700" cy="9144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7463" y="2953512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ESP32-S3-WROOM-1 (U1)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Dual Xtensa LX7 @ 240MHz • Bus: I2C, 2x I2S, 3x UART, ADC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3V3_MAIN (Always-On) • Rate: 240 MHz clock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Hardware root of trust; owns all safety sensors, haptics, and autonomous SOS.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02129" y="3959352"/>
            <a:ext cx="12700" cy="10972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7463" y="4069080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TCA9555 16-Bit Expander (U7)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TI TCA9555 I2C Expander • Bus: I2C (Addr 0x20) + INT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3V3_MAIN (5µA) • Rate: 100 kHz I2C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Gates power switches for Pi, cameras, and modem to enforce power saving.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02129" y="5074920"/>
            <a:ext cx="12700" cy="10972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7463" y="5184648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PCA9615 Differential Buffer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NXP PCA9615 I2C Buffer • Bus: Differential dI2C Pair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3V3_MAIN (12mA) • Rate: 400 kHz over 1.2m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Guarantees noise-immune I2C communication along cane shaft to tip sensors.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20691" y="2057400"/>
            <a:ext cx="25400" cy="2743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62375" y="2331720"/>
            <a:ext cx="2542032" cy="530352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87171"/>
                </a:solidFill>
              </a:defRPr>
            </a:pPr>
            <a:r>
              <a:t>2. FreeRTOS Safety Firmware</a:t>
            </a:r>
          </a:p>
          <a:p>
            <a:pPr algn="ctr">
              <a:defRPr sz="720">
                <a:solidFill>
                  <a:srgbClr val="94A3B8"/>
                </a:solidFill>
              </a:defRPr>
            </a:pPr>
            <a:r>
              <a:t>Deterministic 50ms Real-Time Loop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27041" y="2862072"/>
            <a:ext cx="12700" cy="9144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62375" y="2953512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50ms Deterministic Safety Loop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FreeRTOS Real-Time Scheduler • Bus: Core 0 Task (Priority 10)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N/A (Firmware) • Rate: Strict 50.0ms cycle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Executes 5 synchronized safety evaluations: Fall &gt; Drop-off &gt; Obstacle &gt; Water.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27041" y="3959352"/>
            <a:ext cx="12700" cy="10972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462375" y="4069080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DRV2605L Haptic Engine Driver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I2C Waveform Synthesizer • Bus: Handle I2C (Addr 0x5A)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3V3_MAIN • Rate: &lt;15ms trigger latency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Synthesizes distinct vibrotactile waveforms directly into user's palm.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27041" y="5074920"/>
            <a:ext cx="12700" cy="10972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462375" y="5184648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Autonomous Direct-AT Modem Link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UART AT Command Sequencer • Bus: UART1 to SIM7600G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N/A (Firmware) • Rate: 115,200 baud direct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Dispatches emergency SMS and 112 call autonomously without Raspberry Pi.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45603" y="2057400"/>
            <a:ext cx="25400" cy="2743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87287" y="2331720"/>
            <a:ext cx="2542032" cy="530352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A855F7"/>
                </a:solidFill>
              </a:defRPr>
            </a:pPr>
            <a:r>
              <a:t>3. Raspberry Pi Zero 2 W (HW)</a:t>
            </a:r>
          </a:p>
          <a:p>
            <a:pPr algn="ctr">
              <a:defRPr sz="720">
                <a:solidFill>
                  <a:srgbClr val="94A3B8"/>
                </a:solidFill>
              </a:defRPr>
            </a:pPr>
            <a:r>
              <a:t>Switchable Edge AI Gateway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51953" y="2862072"/>
            <a:ext cx="12700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87287" y="2953512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Raspberry Pi Zero 2 W (U2)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Broadcom BCM2710A1 • Bus: CSI-2, USB OTG, UART, BLE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5V_PI (Switched rail) • Rate: Quad 1.0 GHz Cortex-A53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Runs computer vision models, Whisper voice engine, and Bluetooth ear link.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51953" y="3959352"/>
            <a:ext cx="12700" cy="10972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87287" y="4069080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Bluetooth 5.x BLE Transceiver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Dedicated Audio Module • Bus: UART / PCM Audio Link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3V3_MAIN / 5V_PI • Rate: 2.4 GHz A2DP / LE Audio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Streams spoken guidance and obstacle tones to bone-conduction ear assistant.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51953" y="5074920"/>
            <a:ext cx="12700" cy="10972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87287" y="5184648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Inter-Processor UART Bridge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4-Wire Framed Serial Protocol • Bus: Mini-UART + RTS/CTS + IRQ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3.3V Logic Level • Rate: 921,600 baud packetized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Bidirectional link exchanging obstacle tokens, voice chunks, and system health.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170515" y="2057400"/>
            <a:ext cx="25400" cy="2743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912199" y="2331720"/>
            <a:ext cx="2542032" cy="530352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A855F7"/>
                </a:solidFill>
              </a:defRPr>
            </a:pPr>
            <a:r>
              <a:t>4. Edge AI Software Stack</a:t>
            </a:r>
          </a:p>
          <a:p>
            <a:pPr algn="ctr">
              <a:defRPr sz="720">
                <a:solidFill>
                  <a:srgbClr val="94A3B8"/>
                </a:solidFill>
              </a:defRPr>
            </a:pPr>
            <a:r>
              <a:t>Vision, Voice &amp; Scene Engine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76865" y="2862072"/>
            <a:ext cx="12700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912199" y="2953512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Dual-Camera Vision Inference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YOLO-Fastest + MobileNet SSD • Bus: TFLite Int8 Engine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N/A (Software) • Rate: 12-15 fps inference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Identifies obstacles, stairs, crosswalk signals, storefronts, and text OCR.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76865" y="3959352"/>
            <a:ext cx="12700" cy="10972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912199" y="4069080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Whisper.tflite Voice Assistant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Local Speech-to-Text Model • Bus: ALSA Audio Pipeline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N/A (Software) • Rate: Triggered on 'V' hold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Transcribes user voice queries; pairs with cloud Gemini API for natural dialog.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76865" y="5074920"/>
            <a:ext cx="12700" cy="10972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912199" y="5184648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Context &amp; Caregiver Sync Engine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MQTT Client + Local SQLite • Bus: SIM7600 USB Network Link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N/A (Software) • Rate: 60s telemetry push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Maintains offline queue; syncs GPS tracks and incident logs to cloud.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114800" cy="274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38BDF8"/>
                </a:solidFill>
              </a:defRPr>
            </a:pPr>
            <a:r>
              <a:t>SMART INDIA HACKATHON 2026 •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t>ASSISTIVE HMI, AUDIO GUIDANCE &amp; ACTUATION TREE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Detailed Tree: Bone-Conduction Ear Assistant, Top Voice Mic, Palm Haptics &amp; Adaptive Tip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8961120" y="384048"/>
            <a:ext cx="2468880" cy="411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⬅ BACK TO 4-BLOCK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43630" y="1234440"/>
            <a:ext cx="5303520" cy="621792"/>
          </a:xfrm>
          <a:prstGeom prst="roundRect">
            <a:avLst/>
          </a:prstGeom>
          <a:solidFill>
            <a:srgbClr val="161E31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34D399"/>
                </a:solidFill>
              </a:defRPr>
            </a:pPr>
            <a:r>
              <a:t>ROOT ARCHITECTURAL BLOCK: ASSISTIVE HMI &amp; OUTPUT ACTUATION</a:t>
            </a:r>
          </a:p>
          <a:p>
            <a:pPr algn="ctr">
              <a:defRPr sz="780">
                <a:solidFill>
                  <a:srgbClr val="94A3B8"/>
                </a:solidFill>
              </a:defRPr>
            </a:pPr>
            <a:r>
              <a:t>Hierarchical Tree: Subsystems ➔ Dedicated Hardware Modules ➔ Software Drivers &amp; Protocols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2690" y="1856232"/>
            <a:ext cx="25400" cy="20116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70935" y="2044700"/>
            <a:ext cx="5449824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58235" y="2057400"/>
            <a:ext cx="25400" cy="2743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99919" y="2331720"/>
            <a:ext cx="2542032" cy="530352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4D399"/>
                </a:solidFill>
              </a:defRPr>
            </a:pPr>
            <a:r>
              <a:t>1. Audio Guidance &amp; Ear Assistant</a:t>
            </a:r>
          </a:p>
          <a:p>
            <a:pPr algn="ctr">
              <a:defRPr sz="720">
                <a:solidFill>
                  <a:srgbClr val="94A3B8"/>
                </a:solidFill>
              </a:defRPr>
            </a:pPr>
            <a:r>
              <a:t>Ears-Free Wireless Navigation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585" y="2862072"/>
            <a:ext cx="12700" cy="914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99919" y="2953512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Bluetooth Ear Assistant Transceiver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Dedicated BT 5.x / LE Audio • Bus: UART/PCM to RPi Zero 2 W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3V3_MAIN (18mA streaming) • Rate: Sub-30ms audio latency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Guides user via bone-conduction headphones; keeps ears open for traffic.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4585" y="3959352"/>
            <a:ext cx="12700" cy="1097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099919" y="4069080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Top Apex Voice Microphone (MIC1)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Knowles SPH0645LM4H High-SNR • Bus: I2S Audio Bus (64x Fs)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3V3_MAIN (1.4mA active) • Rate: 16 kHz / 24-bit PCM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Acoustic port on top cap directed at mouth for crystal-clear voice AI commands.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64585" y="5074920"/>
            <a:ext cx="12700" cy="1097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099919" y="5184648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Thumb-Arch Tri-Mic Array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3x Knowles MEMS Microphones • Bus: I2S0 (Stereo) + I2S1 to ESP32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3V3_MAIN (3.5mA total) • Rate: Spatial beamforming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Suppresses wind noise and detects approaching sirens or vehicle horns.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4585" y="6190488"/>
            <a:ext cx="12700" cy="1097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099919" y="6300216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Handle Siren &amp; Speaker Amp (U8)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MAX98357A I2S Class-D Amp • Bus: I2S1 Bus (shared clocks)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5V_AUX (600mA loud siren) • Rate: Up to 92 dBA alarm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High-decibel audible emergency siren alerts passersby during a fall or distress.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3147" y="2057400"/>
            <a:ext cx="25400" cy="274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824831" y="2331720"/>
            <a:ext cx="2542032" cy="530352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BBF24"/>
                </a:solidFill>
              </a:defRPr>
            </a:pPr>
            <a:r>
              <a:t>2. Palm Haptics &amp; Tactile Inputs</a:t>
            </a:r>
          </a:p>
          <a:p>
            <a:pPr algn="ctr">
              <a:defRPr sz="720">
                <a:solidFill>
                  <a:srgbClr val="94A3B8"/>
                </a:solidFill>
              </a:defRPr>
            </a:pPr>
            <a:r>
              <a:t>Sub-15ms Tactile Reflex Interface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9497" y="2862072"/>
            <a:ext cx="1270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24831" y="2953512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DRV2605L Haptic Motor Driver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TI DRV2605L + Grip LRA Motor • Bus: Handle I2C (Addr 0x5A)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3V3_MAIN (80mA pulse) • Rate: &lt;15ms reflex trigger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Immediate palm vibration: Proximity ticks, curb double-pulse, and emergency buzz.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9497" y="3959352"/>
            <a:ext cx="12700" cy="109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24831" y="4069080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4x Tactile Braille Buttons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Raised Braille Tactile Switches • Bus: Dedicated GPIOs (Active-Low)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Internal Pull-Up • Rate: 10ms debounced IRQ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V (Voice AI), E (Environment summary), I (Incident tag), P (Power toggle).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9497" y="5074920"/>
            <a:ext cx="12700" cy="109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24831" y="5184648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Guarded Emergency SOS Button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Recessed Switch with Guard Ring • Bus: ESP32 Deep Sleep Wake GPIO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Pull-Up to 3V3_MAIN • Rate: 2-second hold required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Prevents accidental press; 2s hold triggers autonomous SMS/Call with GPS.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08059" y="2057400"/>
            <a:ext cx="25400" cy="274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549743" y="2331720"/>
            <a:ext cx="2542032" cy="530352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3. Mechanical Quad-Pod Stabilization</a:t>
            </a:r>
          </a:p>
          <a:p>
            <a:pPr algn="ctr">
              <a:defRPr sz="720">
                <a:solidFill>
                  <a:srgbClr val="94A3B8"/>
                </a:solidFill>
              </a:defRPr>
            </a:pPr>
            <a:r>
              <a:t>Motorized Adaptive Terrain Tip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14409" y="2862072"/>
            <a:ext cx="12700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549743" y="2953512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Quad-Pod Tip Motor Driver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TI DRV8830 I2C Motor Driver • Bus: Diff I2C (Addr 0x60)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VBAT_MOTOR (Fused 3.7V) • Rate: 1.2s deployment time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Drives miniature DC gear-motor and lead screw collar to expand support legs.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14409" y="3959352"/>
            <a:ext cx="12700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549743" y="4069080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3 Articulated Folding Support Legs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CNC Aluminum Linkage Legs • Bus: Mechanical Lead Screw Hub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N/A (Mechanical) • Rate: Full 4-point ground base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Deploys automatically on rough gravel or inclines; allows cane to self-stand.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14409" y="5074920"/>
            <a:ext cx="12700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549743" y="5184648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Ergonomic Thumb-Arch Handle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Overmolded Polycarbonate Chassis • Bus: Keyed 20-Pin Joint J1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N/A (Mechanical) • Rate: Rated for 50 kg load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Optimized palm posture, integrated camera pod, and quick-release latch.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114800" cy="274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38BDF8"/>
                </a:solidFill>
              </a:defRPr>
            </a:pPr>
            <a:r>
              <a:t>SMART INDIA HACKATHON 2026 •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t>POWER DISTRIBUTION, CELLULAR SOS &amp; CLOUD TREE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Detailed Tree: 5 Switched Rails, 6800mAh Battery, SIM7600G Modem &amp; IoT Cloud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8961120" y="384048"/>
            <a:ext cx="2468880" cy="411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⬅ BACK TO 4-BLOCK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43630" y="1234440"/>
            <a:ext cx="5303520" cy="621792"/>
          </a:xfrm>
          <a:prstGeom prst="roundRect">
            <a:avLst/>
          </a:prstGeom>
          <a:solidFill>
            <a:srgbClr val="161E31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2D3EE"/>
                </a:solidFill>
              </a:defRPr>
            </a:pPr>
            <a:r>
              <a:t>ROOT ARCHITECTURAL BLOCK: POWER DISTRIBUTION &amp; CLOUD TELEMETRY</a:t>
            </a:r>
          </a:p>
          <a:p>
            <a:pPr algn="ctr">
              <a:defRPr sz="780">
                <a:solidFill>
                  <a:srgbClr val="94A3B8"/>
                </a:solidFill>
              </a:defRPr>
            </a:pPr>
            <a:r>
              <a:t>Hierarchical Tree: Subsystems ➔ Dedicated Hardware Modules ➔ Software Drivers &amp; Protocols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2690" y="1856232"/>
            <a:ext cx="25400" cy="20116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70935" y="2044700"/>
            <a:ext cx="5449824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58235" y="2057400"/>
            <a:ext cx="25400" cy="2743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99919" y="2331720"/>
            <a:ext cx="2542032" cy="530352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1. Energy Storage &amp; Charging</a:t>
            </a:r>
          </a:p>
          <a:p>
            <a:pPr algn="ctr">
              <a:defRPr sz="720">
                <a:solidFill>
                  <a:srgbClr val="94A3B8"/>
                </a:solidFill>
              </a:defRPr>
            </a:pPr>
            <a:r>
              <a:t>1S2P 6800 mAh Li-Ion Architecture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585" y="2862072"/>
            <a:ext cx="12700" cy="91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99919" y="2953512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1S2P 6800 mAh Li-Ion Battery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2x Panasonic NCR18650GA • Bus: Direct Raw Cell (VSYS)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3.0V to 4.2V (24.5 Wh) • Rate: Up to 8A burst current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Single-cell parallel configuration eliminates cell balancing failure modes.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4585" y="3959352"/>
            <a:ext cx="12700" cy="1097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099919" y="4069080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BQ25895 USB-C Fast Charger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TI BQ25895 Switch-Mode Charger • Bus: USB-C CC1/CC2 PD Logic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Up to 3.0A fast charge • Rate: 93% charging efficiency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Charges cane in &lt;2.5 hours with thermal regulation and overvoltage protection.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64585" y="5074920"/>
            <a:ext cx="12700" cy="1097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099919" y="5184648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BQ27441 Fuel Gauge IC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TI BQ27441-G1 System-Side Gauge • Bus: I2C Bus (Addr 0x55)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VSYS (&lt;50µA draw) • Rate: 1 Hz state-of-charge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Provides accurate battery state-of-charge (%) to drive power-save transitions.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3147" y="2057400"/>
            <a:ext cx="25400" cy="2743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24831" y="2331720"/>
            <a:ext cx="2542032" cy="530352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2. Five Isolated Switched Rails</a:t>
            </a:r>
          </a:p>
          <a:p>
            <a:pPr algn="ctr">
              <a:defRPr sz="720">
                <a:solidFill>
                  <a:srgbClr val="94A3B8"/>
                </a:solidFill>
              </a:defRPr>
            </a:pPr>
            <a:r>
              <a:t>Independent Rail Gating Architecture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9497" y="2862072"/>
            <a:ext cx="12700" cy="91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824831" y="2953512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3V3_MAIN Rail (Always-On)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TPS63020 Buck-Boost Regulator • Bus: Powers ESP32, IMU, ToF, Mics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3.30V @ up to 2.0A • Rate: 96% efficiency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Seamless 3.3V regulation across full 3.0V-4.2V battery discharge curve.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9497" y="3959352"/>
            <a:ext cx="12700" cy="1097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24831" y="4069080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5V_PI Rail (Switched)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TPS61088 Boost + TPS22918 Switch • Bus: Powers Pi Zero 2 W &amp; Cams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5.0V @ up to 2.5A • Rate: Switched by TCA9555 P00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Cleanly disabled in POWER_SAVE mode (&lt;20% battery) to extend runtime to 36+ hrs.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9497" y="5074920"/>
            <a:ext cx="12700" cy="1097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24831" y="5184648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5V_AUX Rail (Switched)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TPS61088 Boost + TPS22918 Switch • Bus: Powers Ultrasonic &amp; Audio Amp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5.0V @ up to 1.0A • Rate: Switched by TCA9555 P03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Stays active during POWER_SAVE mode so ultrasonic safety protection never stops.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9497" y="6190488"/>
            <a:ext cx="12700" cy="1097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24831" y="6300216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VBAT_MODEM &amp; VBAT_MOTOR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Dedicated TPS22918 Load Switches • Bus: Direct VSYS with 1000µF cap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Raw Cell (3.0V - 4.2V) • Rate: 2.0A peak RF bursts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Isolates noisy modem bursts and motor inrush from sensitive digital sensors.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08059" y="2057400"/>
            <a:ext cx="25400" cy="27432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549743" y="2331720"/>
            <a:ext cx="2542032" cy="530352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472B6"/>
                </a:solidFill>
              </a:defRPr>
            </a:pPr>
            <a:r>
              <a:t>3. Cellular SOS &amp; Cloud IoT</a:t>
            </a:r>
          </a:p>
          <a:p>
            <a:pPr algn="ctr">
              <a:defRPr sz="720">
                <a:solidFill>
                  <a:srgbClr val="94A3B8"/>
                </a:solidFill>
              </a:defRPr>
            </a:pPr>
            <a:r>
              <a:t>Dual-Link Autonomous Emergency Link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14409" y="2862072"/>
            <a:ext cx="12700" cy="9144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549743" y="2953512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SIM7600G-H LTE &amp; GNSS Module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Global LTE Cat-4 + Multi-GNSS • Bus: Dual: UART (ESP) + USB (Pi)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VBAT_MODEM (2A bursts) • Rate: 150 Mbps DL / 50 Mbps UL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Dual-path cellular modem allowing autonomous SOS calls from ESP32-S3.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14409" y="3959352"/>
            <a:ext cx="12700" cy="10972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549743" y="4069080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Autonomous Emergency SOS Dispatch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Direct AT Command Firmware • Bus: ESP32-S3 UART1 to Modem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Active in all modes • Rate: &lt;5s dispatch latency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Sends emergency SMS with Google Maps pin &amp; places 112 calls without needing Pi.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14409" y="5074920"/>
            <a:ext cx="12700" cy="10972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549743" y="5184648"/>
            <a:ext cx="2542032" cy="1005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Caregiver IoT Cloud Dashboard</a:t>
            </a:r>
          </a:p>
          <a:p>
            <a:pPr>
              <a:defRPr sz="720">
                <a:solidFill>
                  <a:srgbClr val="38BDF8"/>
                </a:solidFill>
              </a:defRPr>
            </a:pPr>
            <a:r>
              <a:t>Part: MQTT TLS 1.3 / REST API • Bus: Cellular IP Socket (RPi)</a:t>
            </a:r>
          </a:p>
          <a:p>
            <a:pPr>
              <a:defRPr sz="700">
                <a:solidFill>
                  <a:srgbClr val="FBBF24"/>
                </a:solidFill>
              </a:defRPr>
            </a:pPr>
            <a:r>
              <a:t>Power: Cloud Infrastructure • Rate: 60s heartbeat telemetry</a:t>
            </a:r>
          </a:p>
          <a:p>
            <a:pPr>
              <a:defRPr sz="700">
                <a:solidFill>
                  <a:srgbClr val="CBD5E1"/>
                </a:solidFill>
              </a:defRPr>
            </a:pPr>
            <a:r>
              <a:t>Caregiver portal: Real-time map location, fall incident history &amp; geo-fence alerts.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114800" cy="274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38BDF8"/>
                </a:solidFill>
              </a:defRPr>
            </a:pPr>
            <a:r>
              <a:t>SMART INDIA HACKATHON 2026 •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t>SMART INTELLIGENT CANE — MASTER SYSTEM ARCHITECTURE TREE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Complete Consolidated Tree: 4 Architectural Pillars, Subsystems, Hardware Components &amp; Software Dataflows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8961120" y="384048"/>
            <a:ext cx="2468880" cy="411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⬅ BACK TO 4-BLOCK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98448"/>
            <a:ext cx="2542032" cy="502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1. Multi-Modal Perception</a:t>
            </a:r>
          </a:p>
          <a:p>
            <a:pPr>
              <a:defRPr sz="750">
                <a:solidFill>
                  <a:srgbClr val="94A3B8"/>
                </a:solidFill>
              </a:defRPr>
            </a:pPr>
            <a:r>
              <a:t>Sensors &amp; Drivers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65376"/>
            <a:ext cx="2542032" cy="484632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Top Forward Camera (CAM1)</a:t>
            </a:r>
          </a:p>
          <a:p>
            <a:pPr>
              <a:defRPr sz="680">
                <a:solidFill>
                  <a:srgbClr val="CBD5E1"/>
                </a:solidFill>
              </a:defRPr>
            </a:pPr>
            <a:r>
              <a:t>OV5647 5MP • CSI-2 (22-pin)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95728"/>
            <a:ext cx="2542032" cy="484632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Bottom Ground Camera (CAM2)</a:t>
            </a:r>
          </a:p>
          <a:p>
            <a:pPr>
              <a:defRPr sz="680">
                <a:solidFill>
                  <a:srgbClr val="CBD5E1"/>
                </a:solidFill>
              </a:defRPr>
            </a:pPr>
            <a:r>
              <a:t>120° Wide • USB UVC • Curbs/Stairs</a:t>
            </a:r>
          </a:p>
        </p:txBody>
      </p:sp>
      <p:sp>
        <p:nvSpPr>
          <p:cNvPr id="9" name="Rectangle 8"/>
          <p:cNvSpPr/>
          <p:nvPr/>
        </p:nvSpPr>
        <p:spPr>
          <a:xfrm>
            <a:off x="862330" y="2350008"/>
            <a:ext cx="127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2542032" cy="484632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Ultrasonic Rangefinder (SEN1)</a:t>
            </a:r>
          </a:p>
          <a:p>
            <a:pPr>
              <a:defRPr sz="680">
                <a:solidFill>
                  <a:srgbClr val="CBD5E1"/>
                </a:solidFill>
              </a:defRPr>
            </a:pPr>
            <a:r>
              <a:t>JSN-SR04T 40kHz • 50ms Safety Loop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2330" y="2880360"/>
            <a:ext cx="127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456432"/>
            <a:ext cx="2542032" cy="484632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Laser ToF Step Sensor (SEN2)</a:t>
            </a:r>
          </a:p>
          <a:p>
            <a:pPr>
              <a:defRPr sz="680">
                <a:solidFill>
                  <a:srgbClr val="CBD5E1"/>
                </a:solidFill>
              </a:defRPr>
            </a:pPr>
            <a:r>
              <a:t>ST VL53L1X • Diff I2C • Drop-offs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2330" y="3410712"/>
            <a:ext cx="127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986784"/>
            <a:ext cx="2542032" cy="484632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Upper Spatial PIR (SEN3)</a:t>
            </a:r>
          </a:p>
          <a:p>
            <a:pPr>
              <a:defRPr sz="680">
                <a:solidFill>
                  <a:srgbClr val="CBD5E1"/>
                </a:solidFill>
              </a:defRPr>
            </a:pPr>
            <a:r>
              <a:t>Panasonic 120° • Pedestrian IRQ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2330" y="3941064"/>
            <a:ext cx="127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4517136"/>
            <a:ext cx="2542032" cy="484632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Lower Blind-Spot PIR (SEN4)</a:t>
            </a:r>
          </a:p>
          <a:p>
            <a:pPr>
              <a:defRPr sz="680">
                <a:solidFill>
                  <a:srgbClr val="CBD5E1"/>
                </a:solidFill>
              </a:defRPr>
            </a:pPr>
            <a:r>
              <a:t>Low-angle blind spot detection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2330" y="4471416"/>
            <a:ext cx="127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5047488"/>
            <a:ext cx="2542032" cy="484632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6-DOF IMU Sensor (U4)</a:t>
            </a:r>
          </a:p>
          <a:p>
            <a:pPr>
              <a:defRPr sz="680">
                <a:solidFill>
                  <a:srgbClr val="CBD5E1"/>
                </a:solidFill>
              </a:defRPr>
            </a:pPr>
            <a:r>
              <a:t>BMI270 100Hz • Freefall Spike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2330" y="5001768"/>
            <a:ext cx="127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5577840"/>
            <a:ext cx="2542032" cy="484632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MAX30102 PPG + Water Pins</a:t>
            </a:r>
          </a:p>
          <a:p>
            <a:pPr>
              <a:defRPr sz="680">
                <a:solidFill>
                  <a:srgbClr val="CBD5E1"/>
                </a:solidFill>
              </a:defRPr>
            </a:pPr>
            <a:r>
              <a:t>Heart Rate/SpO2 + Puddle Immersion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2330" y="5532120"/>
            <a:ext cx="127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456432" y="1298448"/>
            <a:ext cx="2542032" cy="502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87171"/>
                </a:solidFill>
              </a:defRPr>
            </a:pPr>
            <a:r>
              <a:t>2. Dual-Processor Brain</a:t>
            </a:r>
          </a:p>
          <a:p>
            <a:pPr>
              <a:defRPr sz="750">
                <a:solidFill>
                  <a:srgbClr val="94A3B8"/>
                </a:solidFill>
              </a:defRPr>
            </a:pPr>
            <a:r>
              <a:t>RTOS Safety + Edge AI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56432" y="1865376"/>
            <a:ext cx="2542032" cy="484632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ESP32-S3 Safety Core (U1)</a:t>
            </a:r>
          </a:p>
          <a:p>
            <a:pPr>
              <a:defRPr sz="680">
                <a:solidFill>
                  <a:srgbClr val="CBD5E1"/>
                </a:solidFill>
              </a:defRPr>
            </a:pPr>
            <a:r>
              <a:t>Dual Xtensa 240MHz • Always-On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56432" y="2395728"/>
            <a:ext cx="2542032" cy="484632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50ms FreeRTOS Safety Loop</a:t>
            </a:r>
          </a:p>
          <a:p>
            <a:pPr>
              <a:defRPr sz="680">
                <a:solidFill>
                  <a:srgbClr val="CBD5E1"/>
                </a:solidFill>
              </a:defRPr>
            </a:pPr>
            <a:r>
              <a:t>Deterministic Priority Arbitration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87242" y="2350008"/>
            <a:ext cx="12700" cy="457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56432" y="2926080"/>
            <a:ext cx="2542032" cy="484632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DRV2605L Haptic Engine</a:t>
            </a:r>
          </a:p>
          <a:p>
            <a:pPr>
              <a:defRPr sz="680">
                <a:solidFill>
                  <a:srgbClr val="CBD5E1"/>
                </a:solidFill>
              </a:defRPr>
            </a:pPr>
            <a:r>
              <a:t>Sub-15ms Palm Reflex Waveforms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87242" y="2880360"/>
            <a:ext cx="12700" cy="457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56432" y="3456432"/>
            <a:ext cx="2542032" cy="484632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TCA9555 Expander &amp; Load Switch</a:t>
            </a:r>
          </a:p>
          <a:p>
            <a:pPr>
              <a:defRPr sz="680">
                <a:solidFill>
                  <a:srgbClr val="CBD5E1"/>
                </a:solidFill>
              </a:defRPr>
            </a:pPr>
            <a:r>
              <a:t>Gates Rails for 36h Power-Save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87242" y="3410712"/>
            <a:ext cx="12700" cy="457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456432" y="3986784"/>
            <a:ext cx="2542032" cy="484632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Raspberry Pi Zero 2 W (U2)</a:t>
            </a:r>
          </a:p>
          <a:p>
            <a:pPr>
              <a:defRPr sz="680">
                <a:solidFill>
                  <a:srgbClr val="CBD5E1"/>
                </a:solidFill>
              </a:defRPr>
            </a:pPr>
            <a:r>
              <a:t>Quad Cortex-A53 1.0 GHz • Switchable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87242" y="3941064"/>
            <a:ext cx="12700" cy="457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456432" y="4517136"/>
            <a:ext cx="2542032" cy="484632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Dual-Camera Vision Pipeline</a:t>
            </a:r>
          </a:p>
          <a:p>
            <a:pPr>
              <a:defRPr sz="680">
                <a:solidFill>
                  <a:srgbClr val="CBD5E1"/>
                </a:solidFill>
              </a:defRPr>
            </a:pPr>
            <a:r>
              <a:t>YOLO-Fastest &amp; MobileNet Int8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87242" y="4471416"/>
            <a:ext cx="12700" cy="457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456432" y="5047488"/>
            <a:ext cx="2542032" cy="484632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Whisper.tflite Voice Assistant</a:t>
            </a:r>
          </a:p>
          <a:p>
            <a:pPr>
              <a:defRPr sz="680">
                <a:solidFill>
                  <a:srgbClr val="CBD5E1"/>
                </a:solidFill>
              </a:defRPr>
            </a:pPr>
            <a:r>
              <a:t>Local STT + Cloud Multimodal NLP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87242" y="5001768"/>
            <a:ext cx="12700" cy="457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56432" y="5577840"/>
            <a:ext cx="2542032" cy="484632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Inter-Processor UART Bridge</a:t>
            </a:r>
          </a:p>
          <a:p>
            <a:pPr>
              <a:defRPr sz="680">
                <a:solidFill>
                  <a:srgbClr val="CBD5E1"/>
                </a:solidFill>
              </a:defRPr>
            </a:pPr>
            <a:r>
              <a:t>Framed 4-Wire Serial @ 921,600 baud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87242" y="5532120"/>
            <a:ext cx="12700" cy="457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181344" y="1298448"/>
            <a:ext cx="2542032" cy="502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34D399"/>
                </a:solidFill>
              </a:defRPr>
            </a:pPr>
            <a:r>
              <a:t>3. Assistive Output &amp; HMI</a:t>
            </a:r>
          </a:p>
          <a:p>
            <a:pPr>
              <a:defRPr sz="750">
                <a:solidFill>
                  <a:srgbClr val="94A3B8"/>
                </a:solidFill>
              </a:defRPr>
            </a:pPr>
            <a:r>
              <a:t>Audio, Haptics &amp; Legs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81344" y="1865376"/>
            <a:ext cx="2542032" cy="484632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Bluetooth Ear Assistant (U3)</a:t>
            </a:r>
          </a:p>
          <a:p>
            <a:pPr>
              <a:defRPr sz="680">
                <a:solidFill>
                  <a:srgbClr val="CBD5E1"/>
                </a:solidFill>
              </a:defRPr>
            </a:pPr>
            <a:r>
              <a:t>Dedicated BLE/A2DP Bone Conduction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81344" y="2395728"/>
            <a:ext cx="2542032" cy="484632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Top Apex Voice Mic (MIC1)</a:t>
            </a:r>
          </a:p>
          <a:p>
            <a:pPr>
              <a:defRPr sz="680">
                <a:solidFill>
                  <a:srgbClr val="CBD5E1"/>
                </a:solidFill>
              </a:defRPr>
            </a:pPr>
            <a:r>
              <a:t>Mouth-Aligned Acoustic Port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12154" y="2350008"/>
            <a:ext cx="1270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181344" y="2926080"/>
            <a:ext cx="2542032" cy="484632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Thumb-Arch Tri-Mic Array</a:t>
            </a:r>
          </a:p>
          <a:p>
            <a:pPr>
              <a:defRPr sz="680">
                <a:solidFill>
                  <a:srgbClr val="CBD5E1"/>
                </a:solidFill>
              </a:defRPr>
            </a:pPr>
            <a:r>
              <a:t>Spatial Beamforming &amp; Sirens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12154" y="2880360"/>
            <a:ext cx="1270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181344" y="3456432"/>
            <a:ext cx="2542032" cy="484632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DRV2605L Haptic Palm Motor</a:t>
            </a:r>
          </a:p>
          <a:p>
            <a:pPr>
              <a:defRPr sz="680">
                <a:solidFill>
                  <a:srgbClr val="CBD5E1"/>
                </a:solidFill>
              </a:defRPr>
            </a:pPr>
            <a:r>
              <a:t>Linear Resonant Actuator (LRA)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12154" y="3410712"/>
            <a:ext cx="1270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181344" y="3986784"/>
            <a:ext cx="2542032" cy="484632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Tactile Braille Buttons</a:t>
            </a:r>
          </a:p>
          <a:p>
            <a:pPr>
              <a:defRPr sz="680">
                <a:solidFill>
                  <a:srgbClr val="CBD5E1"/>
                </a:solidFill>
              </a:defRPr>
            </a:pPr>
            <a:r>
              <a:t>V (Voice), E (Env), I (Inc), P (Pwr)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12154" y="3941064"/>
            <a:ext cx="1270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181344" y="4517136"/>
            <a:ext cx="2542032" cy="484632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Guarded Emergency SOS Button</a:t>
            </a:r>
          </a:p>
          <a:p>
            <a:pPr>
              <a:defRPr sz="680">
                <a:solidFill>
                  <a:srgbClr val="CBD5E1"/>
                </a:solidFill>
              </a:defRPr>
            </a:pPr>
            <a:r>
              <a:t>Recessed Switch • 2s Hold Dispatches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12154" y="4471416"/>
            <a:ext cx="1270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181344" y="5047488"/>
            <a:ext cx="2542032" cy="484632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MAX98357A 92dBA Siren</a:t>
            </a:r>
          </a:p>
          <a:p>
            <a:pPr>
              <a:defRPr sz="680">
                <a:solidFill>
                  <a:srgbClr val="CBD5E1"/>
                </a:solidFill>
              </a:defRPr>
            </a:pPr>
            <a:r>
              <a:t>Audible Siren for Falls &amp; Distress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12154" y="5001768"/>
            <a:ext cx="1270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181344" y="5577840"/>
            <a:ext cx="2542032" cy="484632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Quad-Pod Adaptive Tip</a:t>
            </a:r>
          </a:p>
          <a:p>
            <a:pPr>
              <a:defRPr sz="680">
                <a:solidFill>
                  <a:srgbClr val="CBD5E1"/>
                </a:solidFill>
              </a:defRPr>
            </a:pPr>
            <a:r>
              <a:t>DRV8830 Motor + 3 Articulated Legs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12154" y="5532120"/>
            <a:ext cx="1270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906256" y="1298448"/>
            <a:ext cx="2542032" cy="502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2D3EE"/>
                </a:solidFill>
              </a:defRPr>
            </a:pPr>
            <a:r>
              <a:t>4. Power, Cellular &amp; Cloud</a:t>
            </a:r>
          </a:p>
          <a:p>
            <a:pPr>
              <a:defRPr sz="750">
                <a:solidFill>
                  <a:srgbClr val="94A3B8"/>
                </a:solidFill>
              </a:defRPr>
            </a:pPr>
            <a:r>
              <a:t>5 Rails &amp; IoT Cloud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906256" y="1865376"/>
            <a:ext cx="2542032" cy="484632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1S2P 6800 mAh Li-Ion Pack</a:t>
            </a:r>
          </a:p>
          <a:p>
            <a:pPr>
              <a:defRPr sz="680">
                <a:solidFill>
                  <a:srgbClr val="CBD5E1"/>
                </a:solidFill>
              </a:defRPr>
            </a:pPr>
            <a:r>
              <a:t>2x 18650 Cells • USB-C Fast Charge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906256" y="2395728"/>
            <a:ext cx="2542032" cy="484632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3V3_MAIN Buck-Boost Rail</a:t>
            </a:r>
          </a:p>
          <a:p>
            <a:pPr>
              <a:defRPr sz="680">
                <a:solidFill>
                  <a:srgbClr val="CBD5E1"/>
                </a:solidFill>
              </a:defRPr>
            </a:pPr>
            <a:r>
              <a:t>TPS63020 Always-On • Full 3.0-4.2V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037066" y="2350008"/>
            <a:ext cx="127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906256" y="2926080"/>
            <a:ext cx="2542032" cy="484632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5V_PI Switched Boost Rail</a:t>
            </a:r>
          </a:p>
          <a:p>
            <a:pPr>
              <a:defRPr sz="680">
                <a:solidFill>
                  <a:srgbClr val="CBD5E1"/>
                </a:solidFill>
              </a:defRPr>
            </a:pPr>
            <a:r>
              <a:t>TPS61088 Boost • Powers Pi/Cameras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37066" y="2880360"/>
            <a:ext cx="127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906256" y="3456432"/>
            <a:ext cx="2542032" cy="484632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5V_AUX Switched Boost Rail</a:t>
            </a:r>
          </a:p>
          <a:p>
            <a:pPr>
              <a:defRPr sz="680">
                <a:solidFill>
                  <a:srgbClr val="CBD5E1"/>
                </a:solidFill>
              </a:defRPr>
            </a:pPr>
            <a:r>
              <a:t>Independent switch for Ultrasonic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37066" y="3410712"/>
            <a:ext cx="127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906256" y="3986784"/>
            <a:ext cx="2542032" cy="484632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SIM7600G-H LTE &amp; GNSS</a:t>
            </a:r>
          </a:p>
          <a:p>
            <a:pPr>
              <a:defRPr sz="680">
                <a:solidFill>
                  <a:srgbClr val="CBD5E1"/>
                </a:solidFill>
              </a:defRPr>
            </a:pPr>
            <a:r>
              <a:t>Multi-band 4G + GPS/GLONASS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37066" y="3941064"/>
            <a:ext cx="127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906256" y="4517136"/>
            <a:ext cx="2542032" cy="484632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Autonomous Direct-AT SOS</a:t>
            </a:r>
          </a:p>
          <a:p>
            <a:pPr>
              <a:defRPr sz="680">
                <a:solidFill>
                  <a:srgbClr val="CBD5E1"/>
                </a:solidFill>
              </a:defRPr>
            </a:pPr>
            <a:r>
              <a:t>Dispatches SMS/Call without RPi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37066" y="4471416"/>
            <a:ext cx="127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906256" y="5047488"/>
            <a:ext cx="2542032" cy="484632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Caregiver IoT Cloud Portal</a:t>
            </a:r>
          </a:p>
          <a:p>
            <a:pPr>
              <a:defRPr sz="680">
                <a:solidFill>
                  <a:srgbClr val="CBD5E1"/>
                </a:solidFill>
              </a:defRPr>
            </a:pPr>
            <a:r>
              <a:t>MQTT TLS 1.3 • Live GPS Tracking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37066" y="5001768"/>
            <a:ext cx="127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906256" y="5577840"/>
            <a:ext cx="2542032" cy="484632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4-Stage Power State Machine</a:t>
            </a:r>
          </a:p>
          <a:p>
            <a:pPr>
              <a:defRPr sz="680">
                <a:solidFill>
                  <a:srgbClr val="CBD5E1"/>
                </a:solidFill>
              </a:defRPr>
            </a:pPr>
            <a:r>
              <a:t>Normal &gt; Power-Save (36h) &gt; SOS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037066" y="5532120"/>
            <a:ext cx="127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