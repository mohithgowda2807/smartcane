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07" dt="2026-09-15T14:21:40.711"/>
    <p1510:client id="{B1F183A1-1CED-A516-5AD8-74202249CBCF}" v="306" dt="2026-09-15T15:16:26.380"/>
    <p1510:client id="{B30D36A2-A8D1-E951-3734-858C8F5856D8}" v="27" dt="2026-09-15T13:45:52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png"/><Relationship Id="rId7" Type="http://schemas.openxmlformats.org/officeDocument/2006/relationships/image" Target="../media/image6.jpeg"/><Relationship Id="rId8" Type="http://schemas.openxmlformats.org/officeDocument/2006/relationships/image" Target="../media/image7.jpeg"/><Relationship Id="rId9" Type="http://schemas.openxmlformats.org/officeDocument/2006/relationships/image" Target="../media/image8.jpeg"/><Relationship Id="rId10" Type="http://schemas.openxmlformats.org/officeDocument/2006/relationships/image" Target="../media/image9.png"/><Relationship Id="rId11" Type="http://schemas.openxmlformats.org/officeDocument/2006/relationships/image" Target="../media/image10.jpeg"/><Relationship Id="rId12" Type="http://schemas.openxmlformats.org/officeDocument/2006/relationships/image" Target="../media/image11.jpe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defRPr sz="1400"/>
            </a:pPr>
            <a:r>
              <a:t>Problem Statement ID: [TO BE FILLED]</a:t>
            </a:r>
            <a:br/>
            <a:r>
              <a:t>Problem Statement Title: [TO BE FILLED - Smart Assistive Mobility Device]</a:t>
            </a:r>
            <a:br/>
            <a:r>
              <a:t>Theme: MedTech / Assistive Hardware &amp; Robotics</a:t>
            </a:r>
            <a:br/>
            <a:r>
              <a:t>PS Category: Hardware</a:t>
            </a:r>
            <a:br/>
            <a:r>
              <a:t>Team ID: [TO BE FILLED]</a:t>
            </a:r>
            <a:br/>
            <a:r>
              <a:t>Team Name: [TO BE FILLED]</a:t>
            </a:r>
            <a:br/>
            <a:r>
              <a:t>College: R.V. College of Engineering, Bengaluru</a:t>
            </a:r>
            <a:br/>
            <a:r>
              <a:t>Project Name: SMART INTELLIGENT CANE</a:t>
            </a:r>
            <a:br/>
            <a:r>
              <a:t>Tagline: "Asymmetric Dual-Processor Assistive Mobility Platform with Fail-Safe Reflex Safety"</a:t>
            </a:r>
            <a:br/>
            <a:br/>
            <a:r>
              <a:t>⚡50ms Safety Loop | 📷 Dual AI Cameras | 🦴 Ears-Free Audio | 🔋 36h+ Battery | 🚨 Autonomous SOS | 🦿 Motorized Quad-Pod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06263" y="0"/>
            <a:ext cx="10972800" cy="806824"/>
          </a:xfrm>
        </p:spPr>
        <p:txBody>
          <a:bodyPr/>
          <a:lstStyle/>
          <a:p>
            <a:r>
              <a:t>IDEA TITLE — Problem, Solution &amp; Architecture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latin typeface="Arial"/>
                <a:ea typeface="ＭＳ Ｐゴシック"/>
                <a:cs typeface="Arial"/>
              </a:rPr>
              <a:t> </a:t>
            </a:r>
            <a:endParaRPr lang="en-US" sz="3200" u="sng" dirty="0">
              <a:solidFill>
                <a:srgbClr val="1F497D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07361" y="162599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1645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457200" y="137160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0"/>
            </a:pPr>
            <a:r>
              <a:t>PROBLEM:</a:t>
            </a:r>
            <a:br/>
            <a:r>
              <a:t>1. "I can feel the ground with my cane, but I can't detect the low branch at head height."</a:t>
            </a:r>
            <a:br/>
            <a:r>
              <a:t>2. "I never hear the electric scooter until it's too late."</a:t>
            </a:r>
            <a:br/>
            <a:r>
              <a:t>3. "My smart cane uses earbuds, so I can't hear traffic anymore."</a:t>
            </a:r>
            <a:br/>
            <a:r>
              <a:t>4. "The app crashed and I had no warning at the curb."</a:t>
            </a:r>
            <a:br/>
            <a:r>
              <a:t>5. Short 3-4 hour battery, no autonomous SOS if user falls unconscious.</a:t>
            </a:r>
            <a:br/>
            <a:br/>
            <a:r>
              <a:t>SOLUTION — 6 Pillars:</a:t>
            </a:r>
            <a:br/>
            <a:r>
              <a:t>1. ⚡ Asymmetric Dual-Processor Fail-Safe</a:t>
            </a:r>
            <a:br/>
            <a:r>
              <a:t>2. 📷 Dual-Tier 8-Sensor 360° Perception</a:t>
            </a:r>
            <a:br/>
            <a:r>
              <a:t>3. 🦴 Ears-Free Bone-Conduction</a:t>
            </a:r>
            <a:br/>
            <a:r>
              <a:t>4. ✋ Sub-15ms Haptic Palm Reflex</a:t>
            </a:r>
            <a:br/>
            <a:r>
              <a:t>5. 🚨 Autonomous Cellular SOS</a:t>
            </a:r>
            <a:br/>
            <a:r>
              <a:t>6. 🦿 Motorized Quad-Pod Tip</a:t>
            </a:r>
            <a:br/>
            <a:br/>
            <a:r>
              <a:t>UVP: "World's first assistive cane with hardware-guaranteed safety reflex independent of any OS, with autonomous cellular SOS and ears-free guidance."</a:t>
            </a:r>
          </a:p>
        </p:txBody>
      </p:sp>
      <p:pic>
        <p:nvPicPr>
          <p:cNvPr id="15364" name="Picture 15363" descr="system_architecture_1790429512186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40480" y="1371600"/>
            <a:ext cx="5029200" cy="28069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0" name="Picture 17409" descr="methodology_flowchart_179042956857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4114800" cy="2296633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754880" y="13716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0"/>
            </a:pPr>
            <a:r>
              <a:t>Tech Stack Grid:</a:t>
            </a:r>
            <a:br/>
            <a:r>
              <a:t>• ESP32-S3 + FreeRTOS: Always-on safety, 50ms loop, C/C++</a:t>
            </a:r>
            <a:br/>
            <a:r>
              <a:t>• RPi Zero 2 W + Linux RT: Edge AI, YOLO-Fastest, MobileNetV3, Python</a:t>
            </a:r>
            <a:br/>
            <a:r>
              <a:t>• Computer Vision: YOLO-Fastest + MobileNetV3-SSD Int8 @ 12-15fps</a:t>
            </a:r>
            <a:br/>
            <a:r>
              <a:t>• Audio &amp; HMI: BLE 5.x bone-conduction, Knowles MEMS mic array, Whisper STT</a:t>
            </a:r>
            <a:br/>
            <a:r>
              <a:t>• Power: TPS63020 Buck-Boost, BQ25895 charger, 5 isolated rails, 6800mAh Li-Ion</a:t>
            </a:r>
            <a:br/>
            <a:r>
              <a:t>• Cloud: SIM7600G-H LTE Cat-4 + GPS, MQTT/TLS, AWS/Firebase IoT</a:t>
            </a:r>
            <a:br/>
            <a:r>
              <a:t>• 3D CAD: Blender 5.2, 63K+ face mesh, CNC aluminum linkages</a:t>
            </a:r>
            <a:br/>
            <a:r>
              <a:t>• Mechanical: DRV8830 motor driver, quad-pod linkage, over-current protection</a:t>
            </a:r>
            <a:br/>
            <a:br/>
            <a:r>
              <a:t>Inter-Processor Bridge:</a:t>
            </a:r>
            <a:br/>
            <a:r>
              <a:t>ESP32-S3 ↔ RPi: 4-wire UART + RTS/CTS @ 921,600 baud (COBS + CRC16)</a:t>
            </a:r>
            <a:br/>
            <a:r>
              <a:t>PCA9615 Differential I²C for 1.1m shaft sensors</a:t>
            </a:r>
          </a:p>
        </p:txBody>
      </p:sp>
      <p:pic>
        <p:nvPicPr>
          <p:cNvPr id="17412" name="Picture 17411" descr="sensor_coverage_map_17904296080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754880"/>
            <a:ext cx="4114800" cy="22966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&amp;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3716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0"/>
            </a:pPr>
            <a:r>
              <a:t>Technical Feasibility</a:t>
            </a:r>
            <a:br/>
            <a:r>
              <a:t>• ESP32-S3 FreeRTOS: Industry-proven for safety-critical IoT</a:t>
            </a:r>
            <a:br/>
            <a:r>
              <a:t>• YOLO-Fastest + MobileNetV3 validated on RPi Zero 2 W at 12-15 fps</a:t>
            </a:r>
            <a:br/>
            <a:r>
              <a:t>• PCA9615 differential I²C validated up to 3m (shaft = 1.1m)</a:t>
            </a:r>
            <a:br/>
            <a:r>
              <a:t>• Complete 3D CAD (63K+ face mesh) manufacturing-ready</a:t>
            </a:r>
            <a:br/>
            <a:br/>
            <a:r>
              <a:t>Economic Viability</a:t>
            </a:r>
            <a:br/>
            <a:r>
              <a:t>• BOM: ₹8,000-12,000 (vs ₹50,000-2,00,000 for competitors)</a:t>
            </a:r>
            <a:br/>
            <a:r>
              <a:t>• Market: 12M+ VI in India (WHO), ~2% with smart aids. TAM: ₹9,600 Cr</a:t>
            </a:r>
            <a:br/>
            <a:r>
              <a:t>• Revenue: B2G (ADIP scheme), B2B, D2C, SaaS cloud dashboard</a:t>
            </a:r>
            <a:br/>
            <a:r>
              <a:t>• Aligned with: Accessible India Campaign, RPwD Act 2016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754880" y="13716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0"/>
            </a:pPr>
            <a:r>
              <a:t>Operational Feasibility</a:t>
            </a:r>
            <a:br/>
            <a:r>
              <a:t>• Zero smartphone dependency for safety</a:t>
            </a:r>
            <a:br/>
            <a:r>
              <a:t>• Offline-first: All safety + edge AI local</a:t>
            </a:r>
            <a:br/>
            <a:r>
              <a:t>• 4 Braille buttons: No screen needed</a:t>
            </a:r>
            <a:br/>
            <a:r>
              <a:t>• 36+ hours in Power-Save mode</a:t>
            </a:r>
            <a:br/>
            <a:br/>
            <a:r>
              <a:t>Challenges &amp; Risk Mitigation</a:t>
            </a:r>
            <a:br/>
            <a:r>
              <a:t>1. AI accuracy in Indian conditions → Multi-modal redundancy (8 sensors)</a:t>
            </a:r>
            <a:br/>
            <a:r>
              <a:t>2. RPi crash during use → Asymmetric architecture; ESP32 safety continues</a:t>
            </a:r>
            <a:br/>
            <a:r>
              <a:t>3. Mechanical tip failure → IP54 enclosure, over-current shutoff, spring fallback</a:t>
            </a:r>
            <a:br/>
            <a:r>
              <a:t>4. LTE unavailable rural → Multi-band fallback, all safety offline, GPS cache</a:t>
            </a:r>
            <a:br/>
            <a:r>
              <a:t>5. User adoption resistance → &lt;400g weight, Braille buttons, ears-free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THREE NATIONAL IMPACT PILLARS
</a:t>
            </a:r>
          </a:p>
          <a:p>
            <a:r>
              <a:rPr sz="1100" b="1">
                <a:solidFill>
                  <a:srgbClr val="0070C0"/>
                </a:solidFill>
              </a:rPr>
              <a:t>🏥 SOCIAL &amp; ACCESSIBILITY
</a:t>
            </a:r>
          </a:p>
          <a:p>
            <a:r>
              <a:rPr sz="1000" b="0"/>
              <a:t>• 12M+ visually impaired beneficiaries (WHO 2023)
• Only ~2% have access to any smart mobility aid
• 60% projected fall injury reduction via sub-15ms haptics
• Autonomous SOS saves lives — no smartphone needed
• Ears-free design preserves full independence
• Voice AI enables independent navigation &amp; sign reading
</a:t>
            </a:r>
          </a:p>
          <a:p>
            <a:r>
              <a:rPr sz="1100" b="1">
                <a:solidFill>
                  <a:srgbClr val="00B050"/>
                </a:solidFill>
              </a:rPr>
              <a:t>💰 ECONOMIC IMPACT
</a:t>
            </a:r>
          </a:p>
          <a:p>
            <a:r>
              <a:rPr sz="1000" b="0"/>
              <a:t>• ₹9,600 Cr addressable market in India
• 70-90% cost reduction vs commercial alternatives
• Make in India: 100% COTS, domestic SMT assembly
• 5,000+ manufacturing &amp; support jobs
• ₹2-5K Cr healthcare savings over 5 years
</a:t>
            </a:r>
          </a:p>
          <a:p>
            <a:r>
              <a:rPr sz="1100" b="1">
                <a:solidFill>
                  <a:srgbClr val="FFC000"/>
                </a:solidFill>
              </a:rPr>
              <a:t>🇮🇳 GOVERNMENT MISSION ALIGNMENT
</a:t>
            </a:r>
          </a:p>
          <a:p>
            <a:r>
              <a:rPr sz="1000" b="0"/>
              <a:t>• Accessible India Campaign (Sugamya Bharat Abhiyan)
• RPwD Act 2016 — Sec 42 (accessibility), Sec 25 (assistive tech)
• ADIP Scheme — BPL subsidy eligible (MoSJE)
• Digital India — IoT caregiver cloud dashboard
• Ayushman Bharat — PPG vitals health records integration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COMPETITIVE COMPARISON
</a:t>
            </a:r>
          </a:p>
          <a:p>
            <a:r>
              <a:rPr sz="1000" b="0"/>
              <a:t>Feature              | WeWALK | Sunu | Ours
Dual-Processor       |   ✗    |  ✗   |  ✓
Sub-15ms Haptic      |   ✗    |  ~   |  ✓
Dual AI Cameras      |   ✗    |  ✗   |  ✓
Bone-Conduction      |   ✗    |  ✗   |  ✓
Autonomous SOS       |   ✗    |  ✗   |  ✓
8-Sensor 360°        |   1    |  1   |  8
Motorized Tip        |   ✗    |  ✗   |  ✓
Fall + Auto SOS      |   ✗    |  ✗   |  ✓
PPG Health           |   ✗    |  ✗   |  ✓
Voice AI (Gemini)    |   ~    |  ✗   |  ✓
36h+ Battery         |  4-5h  | 6-8h | 36h+
Price (India)        | ₹50K+  | ₹30K+| ₹8-12K
</a:t>
            </a:r>
          </a:p>
          <a:p>
            <a:r>
              <a:rPr sz="1000" b="1"/>
              <a:t>12M+ Beneficiaries | 90% Cost Reduction | &lt;5s SOS | 36h+ Battery | 50ms Reflex | 8 Sensors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&amp;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STANDARDS &amp; RESEARCH CITATIONS
</a:t>
            </a:r>
          </a:p>
          <a:p>
            <a:r>
              <a:rPr sz="1100" b="1"/>
              <a:t>Standards &amp; Regulatory:
</a:t>
            </a:r>
          </a:p>
          <a:p>
            <a:r>
              <a:rPr sz="1000" b="0"/>
              <a:t>• WHO Global Report on Assistive Technology (2022)
• RPwD Act 2016 (India) — Sec 42 &amp; 25
• Accessible India Campaign (Sugamya Bharat Abhiyan)
• IEC 62366-1:2015 — Medical device usability
• ISO 11334-1 — Walking aids standard
</a:t>
            </a:r>
          </a:p>
          <a:p>
            <a:r>
              <a:rPr sz="1100" b="1"/>
              <a:t>Key Research Papers:
</a:t>
            </a:r>
          </a:p>
          <a:p>
            <a:r>
              <a:rPr sz="1000" b="0"/>
              <a:t>• Bai et al. (2019) IEEE Trans. Consumer Electronics — Dual-camera + ultrasonic validation
• Elmannai &amp; Elleithy (2017) MDPI Sensors — Assistive sensing modalities
• Saaid et al. (2016) IEEE ICEEI — Baseline smart cane architecture
• Lin et al. (2020) YOLO-Fastest — Sub-100ms edge inference
• Radford et al. (2022) Whisper — Robust speech recognition
• NSO (2021) MoSPI — 12M+ visually impaired stats</a:t>
            </a:r>
          </a:p>
        </p:txBody>
      </p:sp>
      <p:pic>
        <p:nvPicPr>
          <p:cNvPr id="17411" name="Picture 17410" descr="shot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371600"/>
            <a:ext cx="2011680" cy="164592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475488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00" b="0"/>
            </a:pPr>
            <a:r>
              <a:t>3D CAD Model (Blender 5.2, 63K+ faces)</a:t>
            </a:r>
          </a:p>
        </p:txBody>
      </p:sp>
      <p:pic>
        <p:nvPicPr>
          <p:cNvPr id="17413" name="Picture 17412" descr="SIH_PPT_Slide_System_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371600"/>
            <a:ext cx="2011680" cy="1645920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6858000" y="3017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00" b="0"/>
            </a:pPr>
            <a:r>
              <a:t>Interactive Architecture Web App</a:t>
            </a:r>
          </a:p>
        </p:txBody>
      </p:sp>
      <p:pic>
        <p:nvPicPr>
          <p:cNvPr id="17415" name="Picture 17414" descr="render_tip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657600"/>
            <a:ext cx="2011680" cy="164592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475488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00" b="0"/>
            </a:pPr>
            <a:r>
              <a:t>Quad-Pod Adaptive Tip Detail</a:t>
            </a:r>
          </a:p>
        </p:txBody>
      </p:sp>
      <p:pic>
        <p:nvPicPr>
          <p:cNvPr id="17417" name="Picture 17416" descr="render_handle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3657600"/>
            <a:ext cx="2011680" cy="1645920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6858000" y="5303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00" b="0"/>
            </a:pPr>
            <a:r>
              <a:t>Handle Assembly Detail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754880" y="5943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800" b="1"/>
            </a:pPr>
            <a:r>
              <a:t>23-page Engineering Specification (Rev A) + Engineering Diagrams Package + Full 3D CAD Model + Interactive Architecture Web App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Tentan M S .</cp:lastModifiedBy>
  <cp:revision>307</cp:revision>
  <dcterms:created xsi:type="dcterms:W3CDTF">2013-12-12T18:46:50Z</dcterms:created>
  <dcterms:modified xsi:type="dcterms:W3CDTF">2026-09-26T13:08:58Z</dcterms:modified>
  <cp:category/>
</cp:coreProperties>
</file>